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1.xml" ContentType="application/vnd.openxmlformats-officedocument.drawingml.chartshape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drawings/drawing2.xml" ContentType="application/vnd.openxmlformats-officedocument.drawingml.chartshapes+xml"/>
  <Override PartName="/ppt/charts/chart7.xml" ContentType="application/vnd.openxmlformats-officedocument.drawingml.chart+xml"/>
  <Override PartName="/ppt/drawings/drawing3.xml" ContentType="application/vnd.openxmlformats-officedocument.drawingml.chartshapes+xml"/>
  <Override PartName="/ppt/charts/chart8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drawings/drawing4.xml" ContentType="application/vnd.openxmlformats-officedocument.drawingml.chartshapes+xml"/>
  <Override PartName="/ppt/charts/chart14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drawings/drawing5.xml" ContentType="application/vnd.openxmlformats-officedocument.drawingml.chartshapes+xml"/>
  <Override PartName="/ppt/charts/chart15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16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drawings/drawing6.xml" ContentType="application/vnd.openxmlformats-officedocument.drawingml.chartshapes+xml"/>
  <Override PartName="/ppt/charts/chart17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2" r:id="rId1"/>
  </p:sldMasterIdLst>
  <p:notesMasterIdLst>
    <p:notesMasterId r:id="rId31"/>
  </p:notesMasterIdLst>
  <p:sldIdLst>
    <p:sldId id="256" r:id="rId2"/>
    <p:sldId id="295" r:id="rId3"/>
    <p:sldId id="257" r:id="rId4"/>
    <p:sldId id="258" r:id="rId5"/>
    <p:sldId id="282" r:id="rId6"/>
    <p:sldId id="264" r:id="rId7"/>
    <p:sldId id="265" r:id="rId8"/>
    <p:sldId id="259" r:id="rId9"/>
    <p:sldId id="266" r:id="rId10"/>
    <p:sldId id="261" r:id="rId11"/>
    <p:sldId id="268" r:id="rId12"/>
    <p:sldId id="269" r:id="rId13"/>
    <p:sldId id="283" r:id="rId14"/>
    <p:sldId id="297" r:id="rId15"/>
    <p:sldId id="272" r:id="rId16"/>
    <p:sldId id="273" r:id="rId17"/>
    <p:sldId id="285" r:id="rId18"/>
    <p:sldId id="275" r:id="rId19"/>
    <p:sldId id="296" r:id="rId20"/>
    <p:sldId id="287" r:id="rId21"/>
    <p:sldId id="277" r:id="rId22"/>
    <p:sldId id="292" r:id="rId23"/>
    <p:sldId id="289" r:id="rId24"/>
    <p:sldId id="290" r:id="rId25"/>
    <p:sldId id="291" r:id="rId26"/>
    <p:sldId id="279" r:id="rId27"/>
    <p:sldId id="280" r:id="rId28"/>
    <p:sldId id="281" r:id="rId29"/>
    <p:sldId id="288" r:id="rId3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9E3"/>
    <a:srgbClr val="ED5FCB"/>
    <a:srgbClr val="CBA9E5"/>
    <a:srgbClr val="E9A57B"/>
    <a:srgbClr val="FE7EF8"/>
    <a:srgbClr val="FBC1FF"/>
    <a:srgbClr val="FFCCCC"/>
    <a:srgbClr val="FCD8F4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8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1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.xml"/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4.xml"/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chartUserShapes" Target="../drawings/drawing5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chartUserShapes" Target="../drawings/drawing6.xml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user\Desktop\&#1053;&#1086;&#1074;&#1086;&#1077;%20&#1048;&#1048;%20&#1085;&#1072;%2049\&#1056;&#1077;&#1076;&#1072;&#1082;&#1090;&#1080;&#1088;&#1091;&#1077;&#1084;&#1099;&#1077;_&#1076;&#1080;&#1072;&#1075;&#1088;&#1072;&#1084;&#1084;&#1099;_&#1048;&#1048;_&#1085;&#1086;&#1074;&#1072;&#1103;_&#1075;&#1088;&#1091;&#1087;&#1087;&#1072;_49_&#1076;&#1077;&#1090;&#1077;&#1081;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50"/>
      <c:rotY val="160"/>
      <c:depthPercent val="1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"/>
          <c:y val="4.8177824843760701E-2"/>
          <c:w val="1"/>
          <c:h val="0.87523446811072814"/>
        </c:manualLayout>
      </c:layout>
      <c:pie3D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Koʼrsatkich</c:v>
                </c:pt>
              </c:strCache>
            </c:strRef>
          </c:tx>
          <c:dPt>
            <c:idx val="0"/>
            <c:bubble3D val="0"/>
            <c:spPr>
              <a:solidFill>
                <a:srgbClr val="FF0000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4-2506-4180-B43D-DAC9087F0087}"/>
              </c:ext>
            </c:extLst>
          </c:dPt>
          <c:dPt>
            <c:idx val="1"/>
            <c:bubble3D val="0"/>
            <c:spPr>
              <a:solidFill>
                <a:srgbClr val="FC8CE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506-4180-B43D-DAC9087F0087}"/>
              </c:ext>
            </c:extLst>
          </c:dPt>
          <c:dPt>
            <c:idx val="2"/>
            <c:bubble3D val="0"/>
            <c:spPr>
              <a:solidFill>
                <a:srgbClr val="00B0F0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2-2506-4180-B43D-DAC9087F0087}"/>
              </c:ext>
            </c:extLst>
          </c:dPt>
          <c:dPt>
            <c:idx val="3"/>
            <c:bubble3D val="0"/>
            <c:explosion val="20"/>
            <c:spPr>
              <a:solidFill>
                <a:srgbClr val="FFFF00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2506-4180-B43D-DAC9087F008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 xmlns:c16r2="http://schemas.microsoft.com/office/drawing/2015/06/chart"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Лист1!$A$2:$A$5</c:f>
              <c:strCache>
                <c:ptCount val="4"/>
                <c:pt idx="0">
                  <c:v>BA </c:v>
                </c:pt>
                <c:pt idx="1">
                  <c:v>Pnevmoniya</c:v>
                </c:pt>
                <c:pt idx="2">
                  <c:v>OʼRI</c:v>
                </c:pt>
                <c:pt idx="3">
                  <c:v>Bronxitlar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14.2</c:v>
                </c:pt>
                <c:pt idx="1">
                  <c:v>17.899999999999999</c:v>
                </c:pt>
                <c:pt idx="2">
                  <c:v>25.3</c:v>
                </c:pt>
                <c:pt idx="3">
                  <c:v>31.2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506-4180-B43D-DAC9087F00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50"/>
      <c:rotY val="313"/>
      <c:depthPercent val="1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"/>
          <c:y val="0"/>
          <c:w val="1"/>
          <c:h val="0.87523446811072814"/>
        </c:manualLayout>
      </c:layout>
      <c:pie3D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Koʼrsatkich</c:v>
                </c:pt>
              </c:strCache>
            </c:strRef>
          </c:tx>
          <c:dPt>
            <c:idx val="0"/>
            <c:bubble3D val="0"/>
            <c:spPr>
              <a:solidFill>
                <a:srgbClr val="C9F87C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16F9-4F01-9187-5AD54CB27997}"/>
              </c:ext>
            </c:extLst>
          </c:dPt>
          <c:dPt>
            <c:idx val="1"/>
            <c:bubble3D val="0"/>
            <c:explosion val="48"/>
            <c:spPr>
              <a:solidFill>
                <a:srgbClr val="FED6F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16F9-4F01-9187-5AD54CB27997}"/>
              </c:ext>
            </c:extLst>
          </c:dPt>
          <c:dPt>
            <c:idx val="2"/>
            <c:bubble3D val="0"/>
            <c:explosion val="56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16F9-4F01-9187-5AD54CB27997}"/>
              </c:ext>
            </c:extLst>
          </c:dPt>
          <c:dPt>
            <c:idx val="3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16F9-4F01-9187-5AD54CB27997}"/>
              </c:ext>
            </c:extLst>
          </c:dPt>
          <c:dPt>
            <c:idx val="4"/>
            <c:bubble3D val="0"/>
            <c:spPr>
              <a:solidFill>
                <a:srgbClr val="FFFF00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A-16F9-4F01-9187-5AD54CB27997}"/>
              </c:ext>
            </c:extLst>
          </c:dPt>
          <c:dPt>
            <c:idx val="5"/>
            <c:bubble3D val="0"/>
            <c:spPr>
              <a:solidFill>
                <a:srgbClr val="FF0000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16F9-4F01-9187-5AD54CB2799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 xmlns:c16r2="http://schemas.microsoft.com/office/drawing/2015/06/chart"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Лист1!$A$2:$A$7</c:f>
              <c:strCache>
                <c:ptCount val="6"/>
                <c:pt idx="0">
                  <c:v>OB</c:v>
                </c:pt>
                <c:pt idx="1">
                  <c:v>OOB</c:v>
                </c:pt>
                <c:pt idx="2">
                  <c:v>Bronxiolit</c:v>
                </c:pt>
                <c:pt idx="3">
                  <c:v>SB </c:v>
                </c:pt>
                <c:pt idx="4">
                  <c:v>RB</c:v>
                </c:pt>
                <c:pt idx="5">
                  <c:v>RB BOS</c:v>
                </c:pt>
              </c:strCache>
            </c:strRef>
          </c:cat>
          <c:val>
            <c:numRef>
              <c:f>Лист1!$B$2:$B$7</c:f>
              <c:numCache>
                <c:formatCode>General</c:formatCode>
                <c:ptCount val="6"/>
                <c:pt idx="0">
                  <c:v>22.3</c:v>
                </c:pt>
                <c:pt idx="1">
                  <c:v>19.100000000000001</c:v>
                </c:pt>
                <c:pt idx="2">
                  <c:v>13.1</c:v>
                </c:pt>
                <c:pt idx="3">
                  <c:v>8.6</c:v>
                </c:pt>
                <c:pt idx="4">
                  <c:v>16.399999999999999</c:v>
                </c:pt>
                <c:pt idx="5">
                  <c:v>20.5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16F9-4F01-9187-5AD54CB279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rAngAx val="0"/>
      <c:perspective val="4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2.8961942661556134E-2"/>
          <c:y val="0"/>
          <c:w val="0.97103805733844384"/>
          <c:h val="0.56211698259137333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OOB</c:v>
                </c:pt>
              </c:strCache>
            </c:strRef>
          </c:tx>
          <c:spPr>
            <a:solidFill>
              <a:srgbClr val="ED5FCB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Лист1!$A$2:$A$12</c:f>
              <c:strCache>
                <c:ptCount val="11"/>
                <c:pt idx="0">
                  <c:v>Homiladorlik uzilish xavfi</c:v>
                </c:pt>
                <c:pt idx="1">
                  <c:v>Homilani koʼtara olmaslik xavfi</c:v>
                </c:pt>
                <c:pt idx="2">
                  <c:v>Homiladorlikning kech gestozi</c:v>
                </c:pt>
                <c:pt idx="3">
                  <c:v>Surunkali fetoplasentar yetishmovchilik</c:v>
                </c:pt>
                <c:pt idx="4">
                  <c:v>Homiladorlik davrida OʼRVI</c:v>
                </c:pt>
                <c:pt idx="5">
                  <c:v>Homiladorlik davrida anemiya</c:v>
                </c:pt>
                <c:pt idx="6">
                  <c:v>Oʼtkir bronxit</c:v>
                </c:pt>
                <c:pt idx="7">
                  <c:v>Allergenlarni koʼp isteʼmol qilish</c:v>
                </c:pt>
                <c:pt idx="8">
                  <c:v>Homiladorlik davrida chekish</c:v>
                </c:pt>
                <c:pt idx="9">
                  <c:v>Muddatidan oldin tugʼish</c:v>
                </c:pt>
                <c:pt idx="10">
                  <c:v>Kesar kesish</c:v>
                </c:pt>
              </c:strCache>
            </c:strRef>
          </c:cat>
          <c:val>
            <c:numRef>
              <c:f>Лист1!$B$2:$B$12</c:f>
              <c:numCache>
                <c:formatCode>General</c:formatCode>
                <c:ptCount val="11"/>
                <c:pt idx="0">
                  <c:v>2.17</c:v>
                </c:pt>
                <c:pt idx="1">
                  <c:v>1.8</c:v>
                </c:pt>
                <c:pt idx="2">
                  <c:v>2.4700000000000002</c:v>
                </c:pt>
                <c:pt idx="3">
                  <c:v>8</c:v>
                </c:pt>
                <c:pt idx="4">
                  <c:v>2.0299999999999998</c:v>
                </c:pt>
                <c:pt idx="5">
                  <c:v>3.82</c:v>
                </c:pt>
                <c:pt idx="6">
                  <c:v>6.5</c:v>
                </c:pt>
                <c:pt idx="7">
                  <c:v>10.8</c:v>
                </c:pt>
                <c:pt idx="8">
                  <c:v>3</c:v>
                </c:pt>
                <c:pt idx="9">
                  <c:v>4.5</c:v>
                </c:pt>
                <c:pt idx="10">
                  <c:v>2.4</c:v>
                </c:pt>
              </c:numCache>
            </c:numRef>
          </c:val>
          <c:shape val="cylinder"/>
          <c:extLst xmlns:c16r2="http://schemas.microsoft.com/office/drawing/2015/06/chart">
            <c:ext xmlns:c16="http://schemas.microsoft.com/office/drawing/2014/chart" uri="{C3380CC4-5D6E-409C-BE32-E72D297353CC}">
              <c16:uniqueId val="{00000000-EF2A-4D8B-9F1D-3291ECB808BE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BL </c:v>
                </c:pt>
              </c:strCache>
            </c:strRef>
          </c:tx>
          <c:spPr>
            <a:solidFill>
              <a:srgbClr val="00FFFF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Лист1!$A$2:$A$12</c:f>
              <c:strCache>
                <c:ptCount val="11"/>
                <c:pt idx="0">
                  <c:v>Homiladorlik uzilish xavfi</c:v>
                </c:pt>
                <c:pt idx="1">
                  <c:v>Homilani koʼtara olmaslik xavfi</c:v>
                </c:pt>
                <c:pt idx="2">
                  <c:v>Homiladorlikning kech gestozi</c:v>
                </c:pt>
                <c:pt idx="3">
                  <c:v>Surunkali fetoplasentar yetishmovchilik</c:v>
                </c:pt>
                <c:pt idx="4">
                  <c:v>Homiladorlik davrida OʼRVI</c:v>
                </c:pt>
                <c:pt idx="5">
                  <c:v>Homiladorlik davrida anemiya</c:v>
                </c:pt>
                <c:pt idx="6">
                  <c:v>Oʼtkir bronxit</c:v>
                </c:pt>
                <c:pt idx="7">
                  <c:v>Allergenlarni koʼp isteʼmol qilish</c:v>
                </c:pt>
                <c:pt idx="8">
                  <c:v>Homiladorlik davrida chekish</c:v>
                </c:pt>
                <c:pt idx="9">
                  <c:v>Muddatidan oldin tugʼish</c:v>
                </c:pt>
                <c:pt idx="10">
                  <c:v>Kesar kesish</c:v>
                </c:pt>
              </c:strCache>
            </c:strRef>
          </c:cat>
          <c:val>
            <c:numRef>
              <c:f>Лист1!$C$2:$C$12</c:f>
              <c:numCache>
                <c:formatCode>General</c:formatCode>
                <c:ptCount val="11"/>
                <c:pt idx="0">
                  <c:v>1.5</c:v>
                </c:pt>
                <c:pt idx="1">
                  <c:v>3.5</c:v>
                </c:pt>
                <c:pt idx="2">
                  <c:v>11.5</c:v>
                </c:pt>
                <c:pt idx="3">
                  <c:v>3.8</c:v>
                </c:pt>
                <c:pt idx="4">
                  <c:v>2</c:v>
                </c:pt>
                <c:pt idx="5">
                  <c:v>3.4</c:v>
                </c:pt>
                <c:pt idx="6">
                  <c:v>16.7</c:v>
                </c:pt>
                <c:pt idx="7">
                  <c:v>4.7</c:v>
                </c:pt>
                <c:pt idx="8">
                  <c:v>1.6</c:v>
                </c:pt>
                <c:pt idx="9">
                  <c:v>6.5</c:v>
                </c:pt>
                <c:pt idx="10">
                  <c:v>1.1499999999999999</c:v>
                </c:pt>
              </c:numCache>
            </c:numRef>
          </c:val>
          <c:shape val="cylinder"/>
          <c:extLst xmlns:c16r2="http://schemas.microsoft.com/office/drawing/2015/06/chart">
            <c:ext xmlns:c16="http://schemas.microsoft.com/office/drawing/2014/chart" uri="{C3380CC4-5D6E-409C-BE32-E72D297353CC}">
              <c16:uniqueId val="{00000001-EF2A-4D8B-9F1D-3291ECB808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5"/>
        <c:gapDepth val="209"/>
        <c:shape val="box"/>
        <c:axId val="230591072"/>
        <c:axId val="230594208"/>
        <c:axId val="0"/>
      </c:bar3DChart>
      <c:catAx>
        <c:axId val="2305910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230594208"/>
        <c:crosses val="autoZero"/>
        <c:auto val="1"/>
        <c:lblAlgn val="ctr"/>
        <c:lblOffset val="100"/>
        <c:noMultiLvlLbl val="0"/>
      </c:catAx>
      <c:valAx>
        <c:axId val="23059420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305910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915340297971421"/>
          <c:y val="0.89845053519232898"/>
          <c:w val="0.66224907039485836"/>
          <c:h val="7.877150710651784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ysClr val="windowText" lastClr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userShapes r:id="rId4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o'</a:t>
            </a:r>
            <a:r>
              <a:rPr lang="ru-RU" sz="18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tkir</a:t>
            </a:r>
            <a:r>
              <a:rPr lang="ru-RU" sz="1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obstruktiv</a:t>
            </a:r>
            <a:r>
              <a:rPr lang="ru-RU" sz="1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bronxit</a:t>
            </a:r>
            <a:endParaRPr lang="ru-RU" sz="18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OR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Ikkala chiziq boʼyicha</c:v>
                </c:pt>
                <c:pt idx="1">
                  <c:v>Ona chizigʼi boʼyicha</c:v>
                </c:pt>
                <c:pt idx="2">
                  <c:v>Ota chizigʼi boʼyicha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1.98</c:v>
                </c:pt>
                <c:pt idx="1">
                  <c:v>3.56</c:v>
                </c:pt>
                <c:pt idx="2">
                  <c:v>2.15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E8F3-46F3-A00D-EB7312C9DF56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RR</c:v>
                </c:pt>
              </c:strCache>
            </c:strRef>
          </c:tx>
          <c:spPr>
            <a:solidFill>
              <a:srgbClr val="ED5FC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Ikkala chiziq boʼyicha</c:v>
                </c:pt>
                <c:pt idx="1">
                  <c:v>Ona chizigʼi boʼyicha</c:v>
                </c:pt>
                <c:pt idx="2">
                  <c:v>Ota chizigʼi boʼyicha</c:v>
                </c:pt>
              </c:strCache>
            </c:str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1.22</c:v>
                </c:pt>
                <c:pt idx="1">
                  <c:v>1.38</c:v>
                </c:pt>
                <c:pt idx="2">
                  <c:v>1.23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E8F3-46F3-A00D-EB7312C9DF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30596168"/>
        <c:axId val="230591856"/>
      </c:barChart>
      <c:catAx>
        <c:axId val="2305961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230591856"/>
        <c:crosses val="autoZero"/>
        <c:auto val="1"/>
        <c:lblAlgn val="ctr"/>
        <c:lblOffset val="100"/>
        <c:noMultiLvlLbl val="0"/>
      </c:catAx>
      <c:valAx>
        <c:axId val="23059185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305961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ysClr val="windowText" lastClr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o'</a:t>
            </a:r>
            <a:r>
              <a:rPr lang="ru-RU" sz="18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tkir</a:t>
            </a:r>
            <a:r>
              <a:rPr lang="ru-RU" sz="1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bronxiolit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OR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Ikkala chiziq boʼyicha</c:v>
                </c:pt>
                <c:pt idx="1">
                  <c:v>Ona chizigʼi boʼyicha</c:v>
                </c:pt>
                <c:pt idx="2">
                  <c:v>Ota chizigʼi boʼyicha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1.46</c:v>
                </c:pt>
                <c:pt idx="1">
                  <c:v>2.74</c:v>
                </c:pt>
                <c:pt idx="2">
                  <c:v>1.85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C7D-4168-A3C3-849D919D2987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RR</c:v>
                </c:pt>
              </c:strCache>
            </c:strRef>
          </c:tx>
          <c:spPr>
            <a:solidFill>
              <a:srgbClr val="ED5FC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Ikkala chiziq boʼyicha</c:v>
                </c:pt>
                <c:pt idx="1">
                  <c:v>Ona chizigʼi boʼyicha</c:v>
                </c:pt>
                <c:pt idx="2">
                  <c:v>Ota chizigʼi boʼyicha</c:v>
                </c:pt>
              </c:strCache>
            </c:str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1.1200000000000001</c:v>
                </c:pt>
                <c:pt idx="1">
                  <c:v>1.3</c:v>
                </c:pt>
                <c:pt idx="2">
                  <c:v>1.2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6C7D-4168-A3C3-849D919D29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30595384"/>
        <c:axId val="230592248"/>
      </c:barChart>
      <c:catAx>
        <c:axId val="230595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230592248"/>
        <c:crosses val="autoZero"/>
        <c:auto val="1"/>
        <c:lblAlgn val="ctr"/>
        <c:lblOffset val="100"/>
        <c:noMultiLvlLbl val="0"/>
      </c:catAx>
      <c:valAx>
        <c:axId val="2305922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30595384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ysClr val="windowText" lastClr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view3D>
      <c:rotX val="30"/>
      <c:rotY val="30"/>
      <c:depthPercent val="100"/>
      <c:rAngAx val="1"/>
    </c:view3D>
    <c:floor>
      <c:thickness val="0"/>
      <c:spPr>
        <a:solidFill>
          <a:schemeClr val="bg1"/>
        </a:solidFill>
      </c:spPr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1.4025051793324987E-2"/>
          <c:y val="4.8281249999999901E-2"/>
          <c:w val="0.97861169455302277"/>
          <c:h val="0.69397078262741829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Yengil daraja (0 ball)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c:spPr>
          <c:invertIfNegative val="0"/>
          <c:dLbls>
            <c:dLbl>
              <c:idx val="6"/>
              <c:layout>
                <c:manualLayout>
                  <c:x val="-9.7222222222222241E-3"/>
                  <c:y val="5.235602094240864E-3"/>
                </c:manualLayout>
              </c:layout>
              <c:spPr>
                <a:noFill/>
                <a:ln>
                  <a:solidFill>
                    <a:schemeClr val="bg1"/>
                  </a:solidFill>
                </a:ln>
              </c:spPr>
              <c:txPr>
                <a:bodyPr/>
                <a:lstStyle/>
                <a:p>
                  <a:pPr>
                    <a:defRPr lang="ru-RU" sz="1400" b="1"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390A-4647-A89A-F148225070E8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solidFill>
                  <a:schemeClr val="bg1"/>
                </a:solidFill>
              </a:ln>
              <a:effectLst/>
            </c:spPr>
            <c:txPr>
              <a:bodyPr/>
              <a:lstStyle/>
              <a:p>
                <a:pPr>
                  <a:defRPr lang="ru-RU" sz="1400" b="1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Лист1!$A$2:$A$8</c:f>
              <c:strCache>
                <c:ptCount val="7"/>
                <c:pt idx="0">
                  <c:v>Nafas olish chastotasining tezlashishi</c:v>
                </c:pt>
                <c:pt idx="1">
                  <c:v>Auskultativ xirillovchi nafas</c:v>
                </c:pt>
                <c:pt idx="2">
                  <c:v>Nafas olishda yordamchi mushaklarning ishtiroki</c:v>
                </c:pt>
                <c:pt idx="3">
                  <c:v>Mental holat buzilishi</c:v>
                </c:pt>
                <c:pt idx="4">
                  <c:v>Kislorod saturatsiyasining pasayishi</c:v>
                </c:pt>
                <c:pt idx="5">
                  <c:v>Teri qoplamlari rangining oʼzgarishi</c:v>
                </c:pt>
                <c:pt idx="6">
                  <c:v>BOS ogʼirlik darajasi</c:v>
                </c:pt>
              </c:strCache>
            </c:strRef>
          </c:cat>
          <c:val>
            <c:numRef>
              <c:f>Лист1!$B$2:$B$8</c:f>
              <c:numCache>
                <c:formatCode>General</c:formatCode>
                <c:ptCount val="7"/>
                <c:pt idx="0">
                  <c:v>4.2</c:v>
                </c:pt>
                <c:pt idx="1">
                  <c:v>5.8</c:v>
                </c:pt>
                <c:pt idx="2">
                  <c:v>37.5</c:v>
                </c:pt>
                <c:pt idx="3">
                  <c:v>33.299999999999997</c:v>
                </c:pt>
                <c:pt idx="4">
                  <c:v>43.3</c:v>
                </c:pt>
                <c:pt idx="5">
                  <c:v>8.3000000000000007</c:v>
                </c:pt>
                <c:pt idx="6">
                  <c:v>27.5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390A-4647-A89A-F148225070E8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Oʼrta daraja (1 ball)</c:v>
                </c:pt>
              </c:strCache>
            </c:strRef>
          </c:tx>
          <c:spPr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c:spPr>
          <c:invertIfNegative val="0"/>
          <c:dLbls>
            <c:dLbl>
              <c:idx val="0"/>
              <c:layout>
                <c:manualLayout>
                  <c:x val="-9.347777387211986E-4"/>
                  <c:y val="-5.0643412399712512E-3"/>
                </c:manualLayout>
              </c:layout>
              <c:spPr/>
              <c:txPr>
                <a:bodyPr/>
                <a:lstStyle/>
                <a:p>
                  <a:pPr>
                    <a:defRPr lang="ru-RU" sz="1400" b="1"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390A-4647-A89A-F148225070E8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8.3333333333333419E-3"/>
                  <c:y val="4.1884816753926725E-2"/>
                </c:manualLayout>
              </c:layout>
              <c:spPr/>
              <c:txPr>
                <a:bodyPr/>
                <a:lstStyle/>
                <a:p>
                  <a:pPr>
                    <a:defRPr lang="ru-RU" sz="1400" b="1"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390A-4647-A89A-F148225070E8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-2.4372291967559162E-3"/>
                  <c:y val="-1.5501217211721605E-2"/>
                </c:manualLayout>
              </c:layout>
              <c:spPr/>
              <c:txPr>
                <a:bodyPr/>
                <a:lstStyle/>
                <a:p>
                  <a:pPr>
                    <a:defRPr lang="ru-RU" sz="1400" b="1"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390A-4647-A89A-F148225070E8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-1.3888888888888933E-3"/>
                  <c:y val="-1.5706806282722544E-2"/>
                </c:manualLayout>
              </c:layout>
              <c:spPr/>
              <c:txPr>
                <a:bodyPr/>
                <a:lstStyle/>
                <a:p>
                  <a:pPr>
                    <a:defRPr lang="ru-RU" sz="1400" b="1"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390A-4647-A89A-F148225070E8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lang="ru-RU" sz="1400" b="1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Лист1!$A$2:$A$8</c:f>
              <c:strCache>
                <c:ptCount val="7"/>
                <c:pt idx="0">
                  <c:v>Nafas olish chastotasining tezlashishi</c:v>
                </c:pt>
                <c:pt idx="1">
                  <c:v>Auskultativ xirillovchi nafas</c:v>
                </c:pt>
                <c:pt idx="2">
                  <c:v>Nafas olishda yordamchi mushaklarning ishtiroki</c:v>
                </c:pt>
                <c:pt idx="3">
                  <c:v>Mental holat buzilishi</c:v>
                </c:pt>
                <c:pt idx="4">
                  <c:v>Kislorod saturatsiyasining pasayishi</c:v>
                </c:pt>
                <c:pt idx="5">
                  <c:v>Teri qoplamlari rangining oʼzgarishi</c:v>
                </c:pt>
                <c:pt idx="6">
                  <c:v>BOS ogʼirlik darajasi</c:v>
                </c:pt>
              </c:strCache>
            </c:strRef>
          </c:cat>
          <c:val>
            <c:numRef>
              <c:f>Лист1!$C$2:$C$8</c:f>
              <c:numCache>
                <c:formatCode>General</c:formatCode>
                <c:ptCount val="7"/>
                <c:pt idx="0">
                  <c:v>33.299999999999997</c:v>
                </c:pt>
                <c:pt idx="1">
                  <c:v>75.8</c:v>
                </c:pt>
                <c:pt idx="2">
                  <c:v>44.2</c:v>
                </c:pt>
                <c:pt idx="3">
                  <c:v>60.8</c:v>
                </c:pt>
                <c:pt idx="4">
                  <c:v>50.8</c:v>
                </c:pt>
                <c:pt idx="5">
                  <c:v>62.5</c:v>
                </c:pt>
                <c:pt idx="6">
                  <c:v>42.5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390A-4647-A89A-F148225070E8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Ogʼir daraja (2 ball)</c:v>
                </c:pt>
              </c:strCache>
            </c:strRef>
          </c:tx>
          <c:spPr>
            <a:solidFill>
              <a:srgbClr val="ED5FCB"/>
            </a:solidFill>
            <a:ln>
              <a:solidFill>
                <a:srgbClr val="EDB6F8"/>
              </a:solidFill>
            </a:ln>
          </c:spPr>
          <c:invertIfNegative val="0"/>
          <c:dLbls>
            <c:dLbl>
              <c:idx val="0"/>
              <c:layout>
                <c:manualLayout>
                  <c:x val="4.3369498106767736E-3"/>
                  <c:y val="-2.0668289615628808E-2"/>
                </c:manualLayout>
              </c:layout>
              <c:spPr>
                <a:noFill/>
                <a:ln>
                  <a:solidFill>
                    <a:schemeClr val="bg1"/>
                  </a:solidFill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lang="ru-RU" sz="1400" b="1"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9-390A-4647-A89A-F148225070E8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4.3369498106767207E-3"/>
                  <c:y val="-1.550121721172160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A-390A-4647-A89A-F148225070E8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2.8912998737844627E-3"/>
                  <c:y val="-1.29176810097680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B-390A-4647-A89A-F148225070E8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7.228249684461183E-3"/>
                  <c:y val="-2.325182581758243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C-390A-4647-A89A-F148225070E8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2.8912998737845156E-3"/>
                  <c:y val="-1.550121721172160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D-390A-4647-A89A-F148225070E8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5.7825997475690312E-3"/>
                  <c:y val="-1.550121721172160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E-390A-4647-A89A-F148225070E8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lang="ru-RU" sz="1400" b="1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Лист1!$A$2:$A$8</c:f>
              <c:strCache>
                <c:ptCount val="7"/>
                <c:pt idx="0">
                  <c:v>Nafas olish chastotasining tezlashishi</c:v>
                </c:pt>
                <c:pt idx="1">
                  <c:v>Auskultativ xirillovchi nafas</c:v>
                </c:pt>
                <c:pt idx="2">
                  <c:v>Nafas olishda yordamchi mushaklarning ishtiroki</c:v>
                </c:pt>
                <c:pt idx="3">
                  <c:v>Mental holat buzilishi</c:v>
                </c:pt>
                <c:pt idx="4">
                  <c:v>Kislorod saturatsiyasining pasayishi</c:v>
                </c:pt>
                <c:pt idx="5">
                  <c:v>Teri qoplamlari rangining oʼzgarishi</c:v>
                </c:pt>
                <c:pt idx="6">
                  <c:v>BOS ogʼirlik darajasi</c:v>
                </c:pt>
              </c:strCache>
            </c:strRef>
          </c:cat>
          <c:val>
            <c:numRef>
              <c:f>Лист1!$D$2:$D$8</c:f>
              <c:numCache>
                <c:formatCode>General</c:formatCode>
                <c:ptCount val="7"/>
                <c:pt idx="0">
                  <c:v>62.5</c:v>
                </c:pt>
                <c:pt idx="1">
                  <c:v>18.3</c:v>
                </c:pt>
                <c:pt idx="2">
                  <c:v>18.3</c:v>
                </c:pt>
                <c:pt idx="3">
                  <c:v>5.8</c:v>
                </c:pt>
                <c:pt idx="4">
                  <c:v>5.8</c:v>
                </c:pt>
                <c:pt idx="5">
                  <c:v>29.2</c:v>
                </c:pt>
                <c:pt idx="6">
                  <c:v>30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1-390A-4647-A89A-F148225070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230593032"/>
        <c:axId val="230596952"/>
        <c:axId val="0"/>
      </c:bar3DChart>
      <c:catAx>
        <c:axId val="2305930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 b="1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defRPr>
            </a:pPr>
            <a:endParaRPr lang="ru-RU"/>
          </a:p>
        </c:txPr>
        <c:crossAx val="230596952"/>
        <c:crosses val="autoZero"/>
        <c:auto val="1"/>
        <c:lblAlgn val="ctr"/>
        <c:lblOffset val="100"/>
        <c:noMultiLvlLbl val="0"/>
      </c:catAx>
      <c:valAx>
        <c:axId val="23059695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30593032"/>
        <c:crosses val="autoZero"/>
        <c:crossBetween val="between"/>
      </c:valAx>
      <c:spPr>
        <a:noFill/>
        <a:ln w="25377">
          <a:noFill/>
        </a:ln>
      </c:spPr>
    </c:plotArea>
    <c:legend>
      <c:legendPos val="r"/>
      <c:layout>
        <c:manualLayout>
          <c:xMode val="edge"/>
          <c:yMode val="edge"/>
          <c:x val="2.1439350796103273E-2"/>
          <c:y val="0.90066125379793882"/>
          <c:w val="0.97388302483694889"/>
          <c:h val="9.8852551645396247E-2"/>
        </c:manualLayout>
      </c:layout>
      <c:overlay val="0"/>
      <c:txPr>
        <a:bodyPr/>
        <a:lstStyle/>
        <a:p>
          <a:pPr>
            <a:defRPr sz="2000" b="1">
              <a:solidFill>
                <a:schemeClr val="tx1"/>
              </a:solidFill>
              <a:latin typeface="Times New Roman" pitchFamily="18" charset="0"/>
              <a:cs typeface="Times New Roman" pitchFamily="18" charset="0"/>
            </a:defRPr>
          </a:pPr>
          <a:endParaRPr lang="ru-RU"/>
        </a:p>
      </c:txPr>
    </c:legend>
    <c:plotVisOnly val="1"/>
    <c:dispBlanksAs val="gap"/>
    <c:showDLblsOverMax val="0"/>
  </c:chart>
  <c:spPr>
    <a:noFill/>
  </c:spPr>
  <c:txPr>
    <a:bodyPr/>
    <a:lstStyle/>
    <a:p>
      <a:pPr>
        <a:defRPr sz="1796"/>
      </a:pPr>
      <a:endParaRPr lang="ru-RU"/>
    </a:p>
  </c:txPr>
  <c:externalData r:id="rId1">
    <c:autoUpdate val="0"/>
  </c:externalData>
  <c:userShapes r:id="rId2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view3D>
      <c:rotX val="30"/>
      <c:rotY val="20"/>
      <c:depthPercent val="100"/>
      <c:rAngAx val="1"/>
    </c:view3D>
    <c:floor>
      <c:thickness val="0"/>
      <c:spPr>
        <a:solidFill>
          <a:schemeClr val="bg1"/>
        </a:solidFill>
      </c:spPr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0.11545371323579431"/>
          <c:y val="2.3929151713178711E-3"/>
          <c:w val="0.86976227698385478"/>
          <c:h val="0.7923181030942561"/>
        </c:manualLayout>
      </c:layout>
      <c:bar3D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BOS III daraja</c:v>
                </c:pt>
              </c:strCache>
            </c:strRef>
          </c:tx>
          <c:spPr>
            <a:solidFill>
              <a:srgbClr val="FFFF0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40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Лист1!$A$2:$A$5</c:f>
              <c:strCache>
                <c:ptCount val="4"/>
                <c:pt idx="0">
                  <c:v>IgA, mg/%</c:v>
                </c:pt>
                <c:pt idx="1">
                  <c:v>IgM, mg/%</c:v>
                </c:pt>
                <c:pt idx="2">
                  <c:v>IgG, mg/%*10</c:v>
                </c:pt>
                <c:pt idx="3">
                  <c:v>IgE, mg/%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76.099999999999994</c:v>
                </c:pt>
                <c:pt idx="1">
                  <c:v>150</c:v>
                </c:pt>
                <c:pt idx="2">
                  <c:v>69.3</c:v>
                </c:pt>
                <c:pt idx="3">
                  <c:v>140.69999999999999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0FF-424A-A628-FE85F9DB47B6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BOS II daraja</c:v>
                </c:pt>
              </c:strCache>
            </c:strRef>
          </c:tx>
          <c:spPr>
            <a:solidFill>
              <a:srgbClr val="B0EE72"/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c:spPr>
          <c:invertIfNegative val="0"/>
          <c:dLbls>
            <c:dLbl>
              <c:idx val="1"/>
              <c:layout>
                <c:manualLayout>
                  <c:x val="1.4228563647614158E-2"/>
                  <c:y val="-1.02618550686695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60FF-424A-A628-FE85F9DB47B6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4.3780195838813039E-3"/>
                  <c:y val="-1.795824637017177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60FF-424A-A628-FE85F9DB47B6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>
                    <a:solidFill>
                      <a:sysClr val="windowText" lastClr="000000"/>
                    </a:solidFill>
                    <a:latin typeface="Times New Roman" pitchFamily="18" charset="0"/>
                    <a:cs typeface="Times New Roman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Лист1!$A$2:$A$5</c:f>
              <c:strCache>
                <c:ptCount val="4"/>
                <c:pt idx="0">
                  <c:v>IgA, mg/%</c:v>
                </c:pt>
                <c:pt idx="1">
                  <c:v>IgM, mg/%</c:v>
                </c:pt>
                <c:pt idx="2">
                  <c:v>IgG, mg/%*10</c:v>
                </c:pt>
                <c:pt idx="3">
                  <c:v>IgE, mg/%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93.1</c:v>
                </c:pt>
                <c:pt idx="1">
                  <c:v>141</c:v>
                </c:pt>
                <c:pt idx="2">
                  <c:v>91.2</c:v>
                </c:pt>
                <c:pt idx="3">
                  <c:v>123.5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60FF-424A-A628-FE85F9DB47B6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BOS I daraja </c:v>
                </c:pt>
              </c:strCache>
            </c:strRef>
          </c:tx>
          <c:spPr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c:spPr>
          <c:invertIfNegative val="0"/>
          <c:dLbls>
            <c:dLbl>
              <c:idx val="1"/>
              <c:layout>
                <c:manualLayout>
                  <c:x val="2.189009791940652E-3"/>
                  <c:y val="-2.308917390450657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60FF-424A-A628-FE85F9DB47B6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6.5670293758218756E-3"/>
                  <c:y val="-2.052371013733917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60FF-424A-A628-FE85F9DB47B6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>
                    <a:solidFill>
                      <a:sysClr val="windowText" lastClr="000000"/>
                    </a:solidFill>
                    <a:latin typeface="Times New Roman" pitchFamily="18" charset="0"/>
                    <a:cs typeface="Times New Roman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Лист1!$A$2:$A$5</c:f>
              <c:strCache>
                <c:ptCount val="4"/>
                <c:pt idx="0">
                  <c:v>IgA, mg/%</c:v>
                </c:pt>
                <c:pt idx="1">
                  <c:v>IgM, mg/%</c:v>
                </c:pt>
                <c:pt idx="2">
                  <c:v>IgG, mg/%*10</c:v>
                </c:pt>
                <c:pt idx="3">
                  <c:v>IgE, mg/%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  <c:pt idx="0">
                  <c:v>105.3</c:v>
                </c:pt>
                <c:pt idx="1">
                  <c:v>111.2</c:v>
                </c:pt>
                <c:pt idx="2">
                  <c:v>98.6</c:v>
                </c:pt>
                <c:pt idx="3">
                  <c:v>88.2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6-60FF-424A-A628-FE85F9DB47B6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Amaliy sogʼlom</c:v>
                </c:pt>
              </c:strCache>
            </c:strRef>
          </c:tx>
          <c:spPr>
            <a:solidFill>
              <a:srgbClr val="ED5FCB"/>
            </a:solidFill>
            <a:ln>
              <a:solidFill>
                <a:srgbClr val="925BFF"/>
              </a:solidFill>
            </a:ln>
          </c:spPr>
          <c:invertIfNegative val="0"/>
          <c:dLbls>
            <c:dLbl>
              <c:idx val="0"/>
              <c:layout>
                <c:manualLayout>
                  <c:x val="5.9932330295723157E-3"/>
                  <c:y val="-1.4492850234285424E-2"/>
                </c:manualLayout>
              </c:layout>
              <c:spPr/>
              <c:txPr>
                <a:bodyPr/>
                <a:lstStyle/>
                <a:p>
                  <a:pPr>
                    <a:defRPr sz="1400" b="0">
                      <a:solidFill>
                        <a:sysClr val="windowText" lastClr="000000"/>
                      </a:solidFill>
                      <a:latin typeface="Times New Roman" pitchFamily="18" charset="0"/>
                      <a:cs typeface="Times New Roman" pitchFamily="18" charset="0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60FF-424A-A628-FE85F9DB47B6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1.7318687076741168E-2"/>
                  <c:y val="-1.6450480893153034E-2"/>
                </c:manualLayout>
              </c:layout>
              <c:spPr/>
              <c:txPr>
                <a:bodyPr/>
                <a:lstStyle/>
                <a:p>
                  <a:pPr>
                    <a:defRPr sz="1400" b="0">
                      <a:solidFill>
                        <a:sysClr val="windowText" lastClr="000000"/>
                      </a:solidFill>
                      <a:latin typeface="Times New Roman" pitchFamily="18" charset="0"/>
                      <a:cs typeface="Times New Roman" pitchFamily="18" charset="0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60FF-424A-A628-FE85F9DB47B6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5.8997050147492729E-3"/>
                  <c:y val="-7.2463768115942177E-3"/>
                </c:manualLayout>
              </c:layout>
              <c:spPr/>
              <c:txPr>
                <a:bodyPr/>
                <a:lstStyle/>
                <a:p>
                  <a:pPr>
                    <a:defRPr sz="1400" b="0">
                      <a:solidFill>
                        <a:sysClr val="windowText" lastClr="000000"/>
                      </a:solidFill>
                      <a:latin typeface="Times New Roman" pitchFamily="18" charset="0"/>
                      <a:cs typeface="Times New Roman" pitchFamily="18" charset="0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9-60FF-424A-A628-FE85F9DB47B6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1.094504895970326E-2"/>
                  <c:y val="-2.308917390450657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A-60FF-424A-A628-FE85F9DB47B6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>
                    <a:solidFill>
                      <a:sysClr val="windowText" lastClr="000000"/>
                    </a:solidFill>
                    <a:latin typeface="Times New Roman" pitchFamily="18" charset="0"/>
                    <a:cs typeface="Times New Roman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Лист1!$A$2:$A$5</c:f>
              <c:strCache>
                <c:ptCount val="4"/>
                <c:pt idx="0">
                  <c:v>IgA, mg/%</c:v>
                </c:pt>
                <c:pt idx="1">
                  <c:v>IgM, mg/%</c:v>
                </c:pt>
                <c:pt idx="2">
                  <c:v>IgG, mg/%*10</c:v>
                </c:pt>
                <c:pt idx="3">
                  <c:v>IgE, mg/%</c:v>
                </c:pt>
              </c:strCache>
            </c:strRef>
          </c:cat>
          <c:val>
            <c:numRef>
              <c:f>Лист1!$E$2:$E$5</c:f>
              <c:numCache>
                <c:formatCode>General</c:formatCode>
                <c:ptCount val="4"/>
                <c:pt idx="0">
                  <c:v>107.9</c:v>
                </c:pt>
                <c:pt idx="1">
                  <c:v>90.7</c:v>
                </c:pt>
                <c:pt idx="2">
                  <c:v>93.8</c:v>
                </c:pt>
                <c:pt idx="3">
                  <c:v>52.6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B-60FF-424A-A628-FE85F9DB47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230597344"/>
        <c:axId val="230595776"/>
        <c:axId val="0"/>
      </c:bar3DChart>
      <c:catAx>
        <c:axId val="23059734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600" b="1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defRPr>
            </a:pPr>
            <a:endParaRPr lang="ru-RU"/>
          </a:p>
        </c:txPr>
        <c:crossAx val="230595776"/>
        <c:crosses val="autoZero"/>
        <c:auto val="1"/>
        <c:lblAlgn val="ctr"/>
        <c:lblOffset val="100"/>
        <c:noMultiLvlLbl val="0"/>
      </c:catAx>
      <c:valAx>
        <c:axId val="2305957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1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defRPr>
            </a:pPr>
            <a:endParaRPr lang="ru-RU"/>
          </a:p>
        </c:txPr>
        <c:crossAx val="230597344"/>
        <c:crosses val="autoZero"/>
        <c:crossBetween val="between"/>
      </c:valAx>
      <c:spPr>
        <a:noFill/>
        <a:ln w="25420">
          <a:noFill/>
        </a:ln>
      </c:spPr>
    </c:plotArea>
    <c:legend>
      <c:legendPos val="r"/>
      <c:layout>
        <c:manualLayout>
          <c:xMode val="edge"/>
          <c:yMode val="edge"/>
          <c:x val="2.7627244713632981E-2"/>
          <c:y val="0.89794311425357543"/>
          <c:w val="0.97237275528636702"/>
          <c:h val="0.10205688574642456"/>
        </c:manualLayout>
      </c:layout>
      <c:overlay val="0"/>
      <c:txPr>
        <a:bodyPr/>
        <a:lstStyle/>
        <a:p>
          <a:pPr>
            <a:defRPr sz="1800" b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defRPr>
          </a:pPr>
          <a:endParaRPr lang="ru-RU"/>
        </a:p>
      </c:txPr>
    </c:legend>
    <c:plotVisOnly val="1"/>
    <c:dispBlanksAs val="gap"/>
    <c:showDLblsOverMax val="0"/>
  </c:chart>
  <c:spPr>
    <a:ln>
      <a:solidFill>
        <a:schemeClr val="bg1"/>
      </a:solidFill>
    </a:ln>
  </c:spPr>
  <c:txPr>
    <a:bodyPr/>
    <a:lstStyle/>
    <a:p>
      <a:pPr>
        <a:defRPr sz="1801"/>
      </a:pPr>
      <a:endParaRPr lang="ru-RU"/>
    </a:p>
  </c:txPr>
  <c:externalData r:id="rId1">
    <c:autoUpdate val="0"/>
  </c:externalData>
  <c:userShapes r:id="rId2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P&lt;0,001</a:t>
            </a:r>
            <a:endParaRPr lang="ru-RU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91064822172698057"/>
          <c:y val="2.129232460685938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view3D>
      <c:rotX val="10"/>
      <c:rotY val="0"/>
      <c:depthPercent val="100"/>
      <c:rAngAx val="0"/>
      <c:perspective val="20"/>
    </c:view3D>
    <c:floor>
      <c:thickness val="0"/>
      <c:spPr>
        <a:noFill/>
        <a:ln w="9525" cap="flat" cmpd="sng" algn="ctr">
          <a:solidFill>
            <a:schemeClr val="tx1">
              <a:lumMod val="15000"/>
              <a:lumOff val="85000"/>
            </a:schemeClr>
          </a:solidFill>
          <a:round/>
        </a:ln>
        <a:effectLst/>
        <a:sp3d contourW="9525">
          <a:contourClr>
            <a:schemeClr val="tx1">
              <a:lumMod val="15000"/>
              <a:lumOff val="85000"/>
            </a:schemeClr>
          </a:contourClr>
        </a:sp3d>
      </c:spPr>
    </c:floor>
    <c:sideWall>
      <c:thickness val="0"/>
      <c:spPr>
        <a:noFill/>
        <a:ln w="25400">
          <a:noFill/>
        </a:ln>
        <a:effectLst/>
        <a:sp3d/>
      </c:spPr>
    </c:sideWall>
    <c:backWall>
      <c:thickness val="0"/>
      <c:spPr>
        <a:noFill/>
        <a:ln w="25400"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3.4316735215742508E-2"/>
          <c:y val="2.3165414108137369E-2"/>
          <c:w val="0.91933058994491623"/>
          <c:h val="0.79137977057373943"/>
        </c:manualLayout>
      </c:layout>
      <c:area3D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Amaliy sogʼlom</c:v>
                </c:pt>
              </c:strCache>
            </c:strRef>
          </c:tx>
          <c:spPr>
            <a:solidFill>
              <a:srgbClr val="F5A9E3"/>
            </a:solidFill>
            <a:ln>
              <a:noFill/>
            </a:ln>
            <a:effectLst/>
            <a:sp3d/>
          </c:spPr>
          <c:dLbls>
            <c:dLbl>
              <c:idx val="0"/>
              <c:layout>
                <c:manualLayout>
                  <c:x val="-2.7153558719748911E-2"/>
                  <c:y val="-1.678240675192666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AE09-4A46-86D7-D4CAF7D773F4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-4.1506692954238113E-3"/>
                  <c:y val="4.21762969211303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13C4-4533-9A5E-18BF8A60D2E0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2.1496567319801051E-2"/>
                  <c:y val="-7.91170604019396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AE09-4A46-86D7-D4CAF7D773F4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Лист1!$A$2:$A$6</c:f>
              <c:strCache>
                <c:ptCount val="5"/>
                <c:pt idx="0">
                  <c:v>TNFα</c:v>
                </c:pt>
                <c:pt idx="1">
                  <c:v>IL-4</c:v>
                </c:pt>
                <c:pt idx="2">
                  <c:v>IFNƴ</c:v>
                </c:pt>
                <c:pt idx="3">
                  <c:v>IL-8</c:v>
                </c:pt>
                <c:pt idx="4">
                  <c:v>IL-1β</c:v>
                </c:pt>
              </c:strCache>
            </c:strRef>
          </c:cat>
          <c:val>
            <c:numRef>
              <c:f>Лист1!$B$2:$B$6</c:f>
              <c:numCache>
                <c:formatCode>General</c:formatCode>
                <c:ptCount val="5"/>
                <c:pt idx="0">
                  <c:v>28.4</c:v>
                </c:pt>
                <c:pt idx="1">
                  <c:v>4.5999999999999996</c:v>
                </c:pt>
                <c:pt idx="2">
                  <c:v>34.299999999999997</c:v>
                </c:pt>
                <c:pt idx="3">
                  <c:v>19.2</c:v>
                </c:pt>
                <c:pt idx="4">
                  <c:v>52.4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13C4-4533-9A5E-18BF8A60D2E0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BOS I daraja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/>
            <a:sp3d/>
          </c:spPr>
          <c:dLbls>
            <c:dLbl>
              <c:idx val="0"/>
              <c:layout>
                <c:manualLayout>
                  <c:x val="-2.2828681124831399E-2"/>
                  <c:y val="-3.7958667229017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13C4-4533-9A5E-18BF8A60D2E0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0"/>
                  <c:y val="-2.952340784479122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13C4-4533-9A5E-18BF8A60D2E0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3.5280689011103039E-2"/>
                  <c:y val="-0.1349641501476170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13C4-4533-9A5E-18BF8A60D2E0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3.1679151839707057E-2"/>
                  <c:y val="-0.1510416607673392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AE09-4A46-86D7-D4CAF7D773F4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Лист1!$A$2:$A$6</c:f>
              <c:strCache>
                <c:ptCount val="5"/>
                <c:pt idx="0">
                  <c:v>TNFα</c:v>
                </c:pt>
                <c:pt idx="1">
                  <c:v>IL-4</c:v>
                </c:pt>
                <c:pt idx="2">
                  <c:v>IFNƴ</c:v>
                </c:pt>
                <c:pt idx="3">
                  <c:v>IL-8</c:v>
                </c:pt>
                <c:pt idx="4">
                  <c:v>IL-1β</c:v>
                </c:pt>
              </c:strCache>
            </c:strRef>
          </c:cat>
          <c:val>
            <c:numRef>
              <c:f>Лист1!$C$2:$C$6</c:f>
              <c:numCache>
                <c:formatCode>General</c:formatCode>
                <c:ptCount val="5"/>
                <c:pt idx="0">
                  <c:v>55.8</c:v>
                </c:pt>
                <c:pt idx="1">
                  <c:v>19.8</c:v>
                </c:pt>
                <c:pt idx="2">
                  <c:v>27.7</c:v>
                </c:pt>
                <c:pt idx="3">
                  <c:v>76.900000000000006</c:v>
                </c:pt>
                <c:pt idx="4">
                  <c:v>184.5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5-13C4-4533-9A5E-18BF8A60D2E0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BOS II daraja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 w="25400">
              <a:noFill/>
            </a:ln>
            <a:effectLst/>
            <a:sp3d/>
          </c:spPr>
          <c:dLbls>
            <c:dLbl>
              <c:idx val="0"/>
              <c:layout>
                <c:manualLayout>
                  <c:x val="-2.3203642425404347E-2"/>
                  <c:y val="-7.684718797465997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13C4-4533-9A5E-18BF8A60D2E0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2.0753346477118675E-3"/>
                  <c:y val="-3.7958667229017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13C4-4533-9A5E-18BF8A60D2E0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-7.6094724696684813E-17"/>
                  <c:y val="-2.530577815267819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13C4-4533-9A5E-18BF8A60D2E0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2.9054685067967208E-2"/>
                  <c:y val="-0.1897933361450864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9-13C4-4533-9A5E-18BF8A60D2E0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2.489076215976983E-2"/>
                  <c:y val="-0.2109788277385056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AE09-4A46-86D7-D4CAF7D773F4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Лист1!$A$2:$A$6</c:f>
              <c:strCache>
                <c:ptCount val="5"/>
                <c:pt idx="0">
                  <c:v>TNFα</c:v>
                </c:pt>
                <c:pt idx="1">
                  <c:v>IL-4</c:v>
                </c:pt>
                <c:pt idx="2">
                  <c:v>IFNƴ</c:v>
                </c:pt>
                <c:pt idx="3">
                  <c:v>IL-8</c:v>
                </c:pt>
                <c:pt idx="4">
                  <c:v>IL-1β</c:v>
                </c:pt>
              </c:strCache>
            </c:strRef>
          </c:cat>
          <c:val>
            <c:numRef>
              <c:f>Лист1!$D$2:$D$6</c:f>
              <c:numCache>
                <c:formatCode>General</c:formatCode>
                <c:ptCount val="5"/>
                <c:pt idx="0">
                  <c:v>78.099999999999994</c:v>
                </c:pt>
                <c:pt idx="1">
                  <c:v>23.4</c:v>
                </c:pt>
                <c:pt idx="2">
                  <c:v>17.100000000000001</c:v>
                </c:pt>
                <c:pt idx="3">
                  <c:v>95.3</c:v>
                </c:pt>
                <c:pt idx="4">
                  <c:v>193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A-13C4-4533-9A5E-18BF8A60D2E0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BOS III daraja</c:v>
                </c:pt>
              </c:strCache>
            </c:strRef>
          </c:tx>
          <c:spPr>
            <a:solidFill>
              <a:schemeClr val="accent4">
                <a:lumMod val="40000"/>
                <a:lumOff val="60000"/>
              </a:schemeClr>
            </a:solidFill>
            <a:ln w="25400">
              <a:noFill/>
            </a:ln>
            <a:effectLst/>
            <a:sp3d/>
          </c:spPr>
          <c:dLbls>
            <c:dLbl>
              <c:idx val="0"/>
              <c:layout>
                <c:manualLayout>
                  <c:x val="4.3565069833108958E-3"/>
                  <c:y val="-0.1489556585782639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B-13C4-4533-9A5E-18BF8A60D2E0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2.0625016747610064E-2"/>
                  <c:y val="-0.1194780694859298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C-13C4-4533-9A5E-18BF8A60D2E0}"/>
                </c:ext>
                <c:ext xmlns:c15="http://schemas.microsoft.com/office/drawing/2012/chart" uri="{CE6537A1-D6FC-4f65-9D91-7224C49458BB}">
                  <c15:layout>
                    <c:manualLayout>
                      <c:w val="6.2906053418583061E-2"/>
                      <c:h val="9.2752711837761362E-2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-4.2148902809790679E-3"/>
                  <c:y val="-9.309869585576374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D-13C4-4533-9A5E-18BF8A60D2E0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2.974603937633641E-3"/>
                  <c:y val="-0.2273242123123589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E-13C4-4533-9A5E-18BF8A60D2E0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-4.7518727759560585E-2"/>
                  <c:y val="-0.2229662611327388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AE09-4A46-86D7-D4CAF7D773F4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Лист1!$A$2:$A$6</c:f>
              <c:strCache>
                <c:ptCount val="5"/>
                <c:pt idx="0">
                  <c:v>TNFα</c:v>
                </c:pt>
                <c:pt idx="1">
                  <c:v>IL-4</c:v>
                </c:pt>
                <c:pt idx="2">
                  <c:v>IFNƴ</c:v>
                </c:pt>
                <c:pt idx="3">
                  <c:v>IL-8</c:v>
                </c:pt>
                <c:pt idx="4">
                  <c:v>IL-1β</c:v>
                </c:pt>
              </c:strCache>
            </c:strRef>
          </c:cat>
          <c:val>
            <c:numRef>
              <c:f>Лист1!$E$2:$E$6</c:f>
              <c:numCache>
                <c:formatCode>General</c:formatCode>
                <c:ptCount val="5"/>
                <c:pt idx="0">
                  <c:v>117.1</c:v>
                </c:pt>
                <c:pt idx="1">
                  <c:v>28.9</c:v>
                </c:pt>
                <c:pt idx="2">
                  <c:v>10.199999999999999</c:v>
                </c:pt>
                <c:pt idx="3">
                  <c:v>113.3</c:v>
                </c:pt>
                <c:pt idx="4">
                  <c:v>245.3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F-13C4-4533-9A5E-18BF8A60D2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30592640"/>
        <c:axId val="230593424"/>
        <c:axId val="231253280"/>
      </c:area3DChart>
      <c:catAx>
        <c:axId val="2305926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230593424"/>
        <c:crosses val="autoZero"/>
        <c:auto val="1"/>
        <c:lblAlgn val="ctr"/>
        <c:lblOffset val="100"/>
        <c:noMultiLvlLbl val="0"/>
      </c:catAx>
      <c:valAx>
        <c:axId val="230593424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30592640"/>
        <c:crosses val="autoZero"/>
        <c:crossBetween val="midCat"/>
      </c:valAx>
      <c:serAx>
        <c:axId val="231253280"/>
        <c:scaling>
          <c:orientation val="minMax"/>
        </c:scaling>
        <c:delete val="1"/>
        <c:axPos val="b"/>
        <c:majorTickMark val="out"/>
        <c:minorTickMark val="none"/>
        <c:tickLblPos val="nextTo"/>
        <c:crossAx val="230593424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ysClr val="windowText" lastClr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/>
          <a:lstStyle/>
          <a:p>
            <a: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r>
              <a:rPr lang="ru-RU" sz="2000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NAFAS OLISH</a:t>
            </a:r>
            <a:r>
              <a:rPr lang="en-US" sz="2000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FAZASI</a:t>
            </a:r>
            <a:endParaRPr lang="ru-RU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solidFill>
          <a:srgbClr val="FF3300"/>
        </a:solidFill>
      </c:spPr>
    </c:title>
    <c:autoTitleDeleted val="0"/>
    <c:view3D>
      <c:rotX val="15"/>
      <c:rotY val="20"/>
      <c:rAngAx val="1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3.8068257571703644E-2"/>
          <c:y val="7.3162905855175681E-2"/>
          <c:w val="0.9604919376774228"/>
          <c:h val="0.6502480377976122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Nazorat</c:v>
                </c:pt>
              </c:strCache>
            </c:strRef>
          </c:tx>
          <c:spPr>
            <a:solidFill>
              <a:srgbClr val="00FFCC"/>
            </a:solidFill>
            <a:ln>
              <a:solidFill>
                <a:schemeClr val="accent5">
                  <a:lumMod val="75000"/>
                </a:schemeClr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Лист1!$A$2:$A$4</c:f>
              <c:strCache>
                <c:ptCount val="3"/>
                <c:pt idx="0">
                  <c:v>PChN (Р1)</c:v>
                </c:pt>
                <c:pt idx="1">
                  <c:v>O'ChN (Р2)</c:v>
                </c:pt>
                <c:pt idx="2">
                  <c:v>YuChN (Р3)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12.2</c:v>
                </c:pt>
                <c:pt idx="1">
                  <c:v>6.6</c:v>
                </c:pt>
                <c:pt idx="2">
                  <c:v>1.5</c:v>
                </c:pt>
              </c:numCache>
            </c:numRef>
          </c:val>
          <c:shape val="cone"/>
          <c:extLst xmlns:c16r2="http://schemas.microsoft.com/office/drawing/2015/06/chart">
            <c:ext xmlns:c16="http://schemas.microsoft.com/office/drawing/2014/chart" uri="{C3380CC4-5D6E-409C-BE32-E72D297353CC}">
              <c16:uniqueId val="{00000000-8453-4AC8-9616-95E7E34DF2E4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O'B</c:v>
                </c:pt>
              </c:strCache>
            </c:strRef>
          </c:tx>
          <c:spPr>
            <a:solidFill>
              <a:srgbClr val="FC8CE1"/>
            </a:solidFill>
          </c:spPr>
          <c:invertIfNegative val="0"/>
          <c:dLbls>
            <c:dLbl>
              <c:idx val="0"/>
              <c:layout>
                <c:manualLayout>
                  <c:x val="6.0816997345122204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8453-4AC8-9616-95E7E34DF2E4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8.108932979349677E-3"/>
                  <c:y val="-5.649405878229057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8453-4AC8-9616-95E7E34DF2E4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1.419047308919706E-2"/>
                  <c:y val="-1.12988117564581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8453-4AC8-9616-95E7E34DF2E4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1.4190632713861786E-2"/>
                  <c:y val="-5.649405878229057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8453-4AC8-9616-95E7E34DF2E4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Лист1!$A$2:$A$4</c:f>
              <c:strCache>
                <c:ptCount val="3"/>
                <c:pt idx="0">
                  <c:v>PChN (Р1)</c:v>
                </c:pt>
                <c:pt idx="1">
                  <c:v>O'ChN (Р2)</c:v>
                </c:pt>
                <c:pt idx="2">
                  <c:v>YuChN (Р3)</c:v>
                </c:pt>
              </c:strCache>
            </c:str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15.4</c:v>
                </c:pt>
                <c:pt idx="1">
                  <c:v>8.6</c:v>
                </c:pt>
                <c:pt idx="2">
                  <c:v>2.1</c:v>
                </c:pt>
              </c:numCache>
            </c:numRef>
          </c:val>
          <c:shape val="cone"/>
          <c:extLst xmlns:c16r2="http://schemas.microsoft.com/office/drawing/2015/06/chart">
            <c:ext xmlns:c16="http://schemas.microsoft.com/office/drawing/2014/chart" uri="{C3380CC4-5D6E-409C-BE32-E72D297353CC}">
              <c16:uniqueId val="{00000005-8453-4AC8-9616-95E7E34DF2E4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I guruh</c:v>
                </c:pt>
              </c:strCache>
            </c:strRef>
          </c:tx>
          <c:spPr>
            <a:solidFill>
              <a:srgbClr val="FFFF66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40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Лист1!$A$2:$A$4</c:f>
              <c:strCache>
                <c:ptCount val="3"/>
                <c:pt idx="0">
                  <c:v>PChN (Р1)</c:v>
                </c:pt>
                <c:pt idx="1">
                  <c:v>O'ChN (Р2)</c:v>
                </c:pt>
                <c:pt idx="2">
                  <c:v>YuChN (Р3)</c:v>
                </c:pt>
              </c:strCache>
            </c:strRef>
          </c:cat>
          <c:val>
            <c:numRef>
              <c:f>Лист1!$D$2:$D$4</c:f>
              <c:numCache>
                <c:formatCode>General</c:formatCode>
                <c:ptCount val="3"/>
                <c:pt idx="0">
                  <c:v>20.100000000000001</c:v>
                </c:pt>
                <c:pt idx="1">
                  <c:v>9.6</c:v>
                </c:pt>
                <c:pt idx="2">
                  <c:v>3.2</c:v>
                </c:pt>
              </c:numCache>
            </c:numRef>
          </c:val>
          <c:shape val="cone"/>
          <c:extLst xmlns:c16r2="http://schemas.microsoft.com/office/drawing/2015/06/chart">
            <c:ext xmlns:c16="http://schemas.microsoft.com/office/drawing/2014/chart" uri="{C3380CC4-5D6E-409C-BE32-E72D297353CC}">
              <c16:uniqueId val="{00000006-8453-4AC8-9616-95E7E34DF2E4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II Guruh</c:v>
                </c:pt>
              </c:strCache>
            </c:strRef>
          </c:tx>
          <c:spPr>
            <a:solidFill>
              <a:srgbClr val="C4C90B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40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Лист1!$A$2:$A$4</c:f>
              <c:strCache>
                <c:ptCount val="3"/>
                <c:pt idx="0">
                  <c:v>PChN (Р1)</c:v>
                </c:pt>
                <c:pt idx="1">
                  <c:v>O'ChN (Р2)</c:v>
                </c:pt>
                <c:pt idx="2">
                  <c:v>YuChN (Р3)</c:v>
                </c:pt>
              </c:strCache>
            </c:strRef>
          </c:cat>
          <c:val>
            <c:numRef>
              <c:f>Лист1!$E$2:$E$4</c:f>
              <c:numCache>
                <c:formatCode>General</c:formatCode>
                <c:ptCount val="3"/>
                <c:pt idx="0">
                  <c:v>23.2</c:v>
                </c:pt>
                <c:pt idx="1">
                  <c:v>11</c:v>
                </c:pt>
                <c:pt idx="2">
                  <c:v>6.8</c:v>
                </c:pt>
              </c:numCache>
            </c:numRef>
          </c:val>
          <c:shape val="cone"/>
          <c:extLst xmlns:c16r2="http://schemas.microsoft.com/office/drawing/2015/06/chart">
            <c:ext xmlns:c16="http://schemas.microsoft.com/office/drawing/2014/chart" uri="{C3380CC4-5D6E-409C-BE32-E72D297353CC}">
              <c16:uniqueId val="{00000007-8453-4AC8-9616-95E7E34DF2E4}"/>
            </c:ext>
          </c:extLst>
        </c:ser>
        <c:ser>
          <c:idx val="4"/>
          <c:order val="4"/>
          <c:tx>
            <c:strRef>
              <c:f>Лист1!$F$1</c:f>
              <c:strCache>
                <c:ptCount val="1"/>
                <c:pt idx="0">
                  <c:v>III Guruh</c:v>
                </c:pt>
              </c:strCache>
            </c:strRef>
          </c:tx>
          <c:spPr>
            <a:solidFill>
              <a:srgbClr val="00B0F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40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Лист1!$A$2:$A$4</c:f>
              <c:strCache>
                <c:ptCount val="3"/>
                <c:pt idx="0">
                  <c:v>PChN (Р1)</c:v>
                </c:pt>
                <c:pt idx="1">
                  <c:v>O'ChN (Р2)</c:v>
                </c:pt>
                <c:pt idx="2">
                  <c:v>YuChN (Р3)</c:v>
                </c:pt>
              </c:strCache>
            </c:strRef>
          </c:cat>
          <c:val>
            <c:numRef>
              <c:f>Лист1!$F$2:$F$4</c:f>
              <c:numCache>
                <c:formatCode>General</c:formatCode>
                <c:ptCount val="3"/>
                <c:pt idx="0">
                  <c:v>16.8</c:v>
                </c:pt>
                <c:pt idx="1">
                  <c:v>22.3</c:v>
                </c:pt>
                <c:pt idx="2">
                  <c:v>15</c:v>
                </c:pt>
              </c:numCache>
            </c:numRef>
          </c:val>
          <c:shape val="cone"/>
          <c:extLst xmlns:c16r2="http://schemas.microsoft.com/office/drawing/2015/06/chart">
            <c:ext xmlns:c16="http://schemas.microsoft.com/office/drawing/2014/chart" uri="{C3380CC4-5D6E-409C-BE32-E72D297353CC}">
              <c16:uniqueId val="{00000000-6112-4B75-AE93-1FDBC51E94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232085776"/>
        <c:axId val="232087736"/>
        <c:axId val="0"/>
      </c:bar3DChart>
      <c:catAx>
        <c:axId val="23208577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endParaRPr lang="ru-RU"/>
          </a:p>
        </c:txPr>
        <c:crossAx val="232087736"/>
        <c:crosses val="autoZero"/>
        <c:auto val="1"/>
        <c:lblAlgn val="ctr"/>
        <c:lblOffset val="100"/>
        <c:noMultiLvlLbl val="0"/>
      </c:catAx>
      <c:valAx>
        <c:axId val="23208773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32085776"/>
        <c:crosses val="autoZero"/>
        <c:crossBetween val="between"/>
      </c:valAx>
    </c:plotArea>
    <c:plotVisOnly val="1"/>
    <c:dispBlanksAs val="gap"/>
    <c:showDLblsOverMax val="0"/>
  </c:chart>
  <c:spPr>
    <a:ln>
      <a:noFill/>
    </a:ln>
  </c:spPr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/>
          <a:lstStyle/>
          <a:p>
            <a: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r>
              <a:rPr lang="ru-RU" sz="2000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NAFAS CHIQARISH</a:t>
            </a:r>
            <a:r>
              <a:rPr lang="en-US" sz="2000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FAZASI</a:t>
            </a:r>
            <a:endParaRPr lang="ru-RU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solidFill>
          <a:srgbClr val="FF3300"/>
        </a:solidFill>
      </c:spPr>
    </c:title>
    <c:autoTitleDeleted val="0"/>
    <c:view3D>
      <c:rotX val="15"/>
      <c:rotY val="20"/>
      <c:rAngAx val="1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3.8068257571703644E-2"/>
          <c:y val="7.3162905855175681E-2"/>
          <c:w val="0.9604919376774228"/>
          <c:h val="0.6502480377976122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Nazorat</c:v>
                </c:pt>
              </c:strCache>
            </c:strRef>
          </c:tx>
          <c:spPr>
            <a:solidFill>
              <a:srgbClr val="00FFCC"/>
            </a:solidFill>
            <a:ln>
              <a:solidFill>
                <a:schemeClr val="accent5">
                  <a:lumMod val="75000"/>
                </a:schemeClr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Лист1!$A$2:$A$4</c:f>
              <c:strCache>
                <c:ptCount val="3"/>
                <c:pt idx="0">
                  <c:v>PChN (Р1)</c:v>
                </c:pt>
                <c:pt idx="1">
                  <c:v>O'ChN (Р2)</c:v>
                </c:pt>
                <c:pt idx="2">
                  <c:v>YuChN (Р3)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17.600000000000001</c:v>
                </c:pt>
                <c:pt idx="1">
                  <c:v>8.4</c:v>
                </c:pt>
                <c:pt idx="2">
                  <c:v>2.1</c:v>
                </c:pt>
              </c:numCache>
            </c:numRef>
          </c:val>
          <c:shape val="cone"/>
          <c:extLst xmlns:c16r2="http://schemas.microsoft.com/office/drawing/2015/06/chart">
            <c:ext xmlns:c16="http://schemas.microsoft.com/office/drawing/2014/chart" uri="{C3380CC4-5D6E-409C-BE32-E72D297353CC}">
              <c16:uniqueId val="{00000000-0C5A-45FE-8618-02D04F2C61C1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O'B</c:v>
                </c:pt>
              </c:strCache>
            </c:strRef>
          </c:tx>
          <c:spPr>
            <a:solidFill>
              <a:srgbClr val="FC8CE1"/>
            </a:solidFill>
          </c:spPr>
          <c:invertIfNegative val="0"/>
          <c:dLbls>
            <c:dLbl>
              <c:idx val="0"/>
              <c:layout>
                <c:manualLayout>
                  <c:x val="6.0816997345122204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0C5A-45FE-8618-02D04F2C61C1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8.108932979349677E-3"/>
                  <c:y val="-5.649405878229057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0C5A-45FE-8618-02D04F2C61C1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1.419047308919706E-2"/>
                  <c:y val="-1.12988117564581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0C5A-45FE-8618-02D04F2C61C1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1.4190632713861786E-2"/>
                  <c:y val="-5.649405878229057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0C5A-45FE-8618-02D04F2C61C1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Лист1!$A$2:$A$4</c:f>
              <c:strCache>
                <c:ptCount val="3"/>
                <c:pt idx="0">
                  <c:v>PChN (Р1)</c:v>
                </c:pt>
                <c:pt idx="1">
                  <c:v>O'ChN (Р2)</c:v>
                </c:pt>
                <c:pt idx="2">
                  <c:v>YuChN (Р3)</c:v>
                </c:pt>
              </c:strCache>
            </c:str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20.8</c:v>
                </c:pt>
                <c:pt idx="1">
                  <c:v>12.1</c:v>
                </c:pt>
                <c:pt idx="2">
                  <c:v>3.2</c:v>
                </c:pt>
              </c:numCache>
            </c:numRef>
          </c:val>
          <c:shape val="cone"/>
          <c:extLst xmlns:c16r2="http://schemas.microsoft.com/office/drawing/2015/06/chart">
            <c:ext xmlns:c16="http://schemas.microsoft.com/office/drawing/2014/chart" uri="{C3380CC4-5D6E-409C-BE32-E72D297353CC}">
              <c16:uniqueId val="{00000005-0C5A-45FE-8618-02D04F2C61C1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I guruh </c:v>
                </c:pt>
              </c:strCache>
            </c:strRef>
          </c:tx>
          <c:spPr>
            <a:solidFill>
              <a:srgbClr val="FFFF66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40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Лист1!$A$2:$A$4</c:f>
              <c:strCache>
                <c:ptCount val="3"/>
                <c:pt idx="0">
                  <c:v>PChN (Р1)</c:v>
                </c:pt>
                <c:pt idx="1">
                  <c:v>O'ChN (Р2)</c:v>
                </c:pt>
                <c:pt idx="2">
                  <c:v>YuChN (Р3)</c:v>
                </c:pt>
              </c:strCache>
            </c:strRef>
          </c:cat>
          <c:val>
            <c:numRef>
              <c:f>Лист1!$D$2:$D$4</c:f>
              <c:numCache>
                <c:formatCode>General</c:formatCode>
                <c:ptCount val="3"/>
                <c:pt idx="0">
                  <c:v>22.5</c:v>
                </c:pt>
                <c:pt idx="1">
                  <c:v>12.2</c:v>
                </c:pt>
                <c:pt idx="2">
                  <c:v>5.3</c:v>
                </c:pt>
              </c:numCache>
            </c:numRef>
          </c:val>
          <c:shape val="cone"/>
          <c:extLst xmlns:c16r2="http://schemas.microsoft.com/office/drawing/2015/06/chart">
            <c:ext xmlns:c16="http://schemas.microsoft.com/office/drawing/2014/chart" uri="{C3380CC4-5D6E-409C-BE32-E72D297353CC}">
              <c16:uniqueId val="{00000006-0C5A-45FE-8618-02D04F2C61C1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II guruh </c:v>
                </c:pt>
              </c:strCache>
            </c:strRef>
          </c:tx>
          <c:spPr>
            <a:solidFill>
              <a:srgbClr val="C4C90B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40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Лист1!$A$2:$A$4</c:f>
              <c:strCache>
                <c:ptCount val="3"/>
                <c:pt idx="0">
                  <c:v>PChN (Р1)</c:v>
                </c:pt>
                <c:pt idx="1">
                  <c:v>O'ChN (Р2)</c:v>
                </c:pt>
                <c:pt idx="2">
                  <c:v>YuChN (Р3)</c:v>
                </c:pt>
              </c:strCache>
            </c:strRef>
          </c:cat>
          <c:val>
            <c:numRef>
              <c:f>Лист1!$E$2:$E$4</c:f>
              <c:numCache>
                <c:formatCode>General</c:formatCode>
                <c:ptCount val="3"/>
                <c:pt idx="0">
                  <c:v>24.4</c:v>
                </c:pt>
                <c:pt idx="1">
                  <c:v>13.3</c:v>
                </c:pt>
                <c:pt idx="2">
                  <c:v>8.9</c:v>
                </c:pt>
              </c:numCache>
            </c:numRef>
          </c:val>
          <c:shape val="cone"/>
          <c:extLst xmlns:c16r2="http://schemas.microsoft.com/office/drawing/2015/06/chart">
            <c:ext xmlns:c16="http://schemas.microsoft.com/office/drawing/2014/chart" uri="{C3380CC4-5D6E-409C-BE32-E72D297353CC}">
              <c16:uniqueId val="{00000007-0C5A-45FE-8618-02D04F2C61C1}"/>
            </c:ext>
          </c:extLst>
        </c:ser>
        <c:ser>
          <c:idx val="4"/>
          <c:order val="4"/>
          <c:tx>
            <c:strRef>
              <c:f>Лист1!$F$1</c:f>
              <c:strCache>
                <c:ptCount val="1"/>
                <c:pt idx="0">
                  <c:v>III guruh </c:v>
                </c:pt>
              </c:strCache>
            </c:strRef>
          </c:tx>
          <c:spPr>
            <a:solidFill>
              <a:srgbClr val="00B0F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40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Лист1!$A$2:$A$4</c:f>
              <c:strCache>
                <c:ptCount val="3"/>
                <c:pt idx="0">
                  <c:v>PChN (Р1)</c:v>
                </c:pt>
                <c:pt idx="1">
                  <c:v>O'ChN (Р2)</c:v>
                </c:pt>
                <c:pt idx="2">
                  <c:v>YuChN (Р3)</c:v>
                </c:pt>
              </c:strCache>
            </c:strRef>
          </c:cat>
          <c:val>
            <c:numRef>
              <c:f>Лист1!$F$2:$F$4</c:f>
              <c:numCache>
                <c:formatCode>General</c:formatCode>
                <c:ptCount val="3"/>
                <c:pt idx="0">
                  <c:v>20.100000000000001</c:v>
                </c:pt>
                <c:pt idx="1">
                  <c:v>25.7</c:v>
                </c:pt>
                <c:pt idx="2">
                  <c:v>18.8</c:v>
                </c:pt>
              </c:numCache>
            </c:numRef>
          </c:val>
          <c:shape val="cone"/>
          <c:extLst xmlns:c16r2="http://schemas.microsoft.com/office/drawing/2015/06/chart">
            <c:ext xmlns:c16="http://schemas.microsoft.com/office/drawing/2014/chart" uri="{C3380CC4-5D6E-409C-BE32-E72D297353CC}">
              <c16:uniqueId val="{00000008-0C5A-45FE-8618-02D04F2C61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232088520"/>
        <c:axId val="232088128"/>
        <c:axId val="0"/>
      </c:bar3DChart>
      <c:catAx>
        <c:axId val="23208852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endParaRPr lang="ru-RU"/>
          </a:p>
        </c:txPr>
        <c:crossAx val="232088128"/>
        <c:crosses val="autoZero"/>
        <c:auto val="1"/>
        <c:lblAlgn val="ctr"/>
        <c:lblOffset val="100"/>
        <c:noMultiLvlLbl val="0"/>
      </c:catAx>
      <c:valAx>
        <c:axId val="23208812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3208852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10797774076747742"/>
          <c:y val="0.83685894473032796"/>
          <c:w val="0.82073022849570865"/>
          <c:h val="0.16314114978254549"/>
        </c:manualLayout>
      </c:layout>
      <c:overlay val="0"/>
      <c:txPr>
        <a:bodyPr/>
        <a:lstStyle/>
        <a:p>
          <a:pPr>
            <a:defRPr sz="24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showDLblsOverMax val="0"/>
  </c:chart>
  <c:spPr>
    <a:ln>
      <a:noFill/>
    </a:ln>
  </c:spPr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ru-RU" sz="11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YuCh</a:t>
            </a:r>
            <a:r>
              <a:rPr lang="en-US" sz="11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sz="11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(P3)</a:t>
            </a:r>
          </a:p>
        </c:rich>
      </c:tx>
      <c:layout/>
      <c:overlay val="0"/>
      <c:spPr>
        <a:solidFill>
          <a:srgbClr val="FFFF00"/>
        </a:solidFill>
      </c:spPr>
    </c:title>
    <c:autoTitleDeleted val="0"/>
    <c:plotArea>
      <c:layout>
        <c:manualLayout>
          <c:layoutTarget val="inner"/>
          <c:xMode val="edge"/>
          <c:yMode val="edge"/>
          <c:x val="0.1540105170420131"/>
          <c:y val="5.1750763935997958E-2"/>
          <c:w val="0.84598948295798693"/>
          <c:h val="0.9059995182588841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BOS I daraja</c:v>
                </c:pt>
              </c:strCache>
            </c:strRef>
          </c:tx>
          <c:spPr>
            <a:solidFill>
              <a:srgbClr val="A6F8F4"/>
            </a:solidFill>
            <a:ln>
              <a:solidFill>
                <a:schemeClr val="tx1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Лист1!$A$2:$A$10</c:f>
              <c:strCache>
                <c:ptCount val="9"/>
                <c:pt idx="0">
                  <c:v>TNFα</c:v>
                </c:pt>
                <c:pt idx="1">
                  <c:v>IL-4</c:v>
                </c:pt>
                <c:pt idx="2">
                  <c:v>IFNγ</c:v>
                </c:pt>
                <c:pt idx="3">
                  <c:v>IL-8</c:v>
                </c:pt>
                <c:pt idx="4">
                  <c:v>IL-1β </c:v>
                </c:pt>
                <c:pt idx="5">
                  <c:v>IgG</c:v>
                </c:pt>
                <c:pt idx="6">
                  <c:v>IgA</c:v>
                </c:pt>
                <c:pt idx="7">
                  <c:v>IgM</c:v>
                </c:pt>
                <c:pt idx="8">
                  <c:v>IgЕ</c:v>
                </c:pt>
              </c:strCache>
            </c:strRef>
          </c:cat>
          <c:val>
            <c:numRef>
              <c:f>Лист1!$B$2:$B$10</c:f>
              <c:numCache>
                <c:formatCode>General</c:formatCode>
                <c:ptCount val="9"/>
                <c:pt idx="0">
                  <c:v>-0.25</c:v>
                </c:pt>
                <c:pt idx="1">
                  <c:v>0.4</c:v>
                </c:pt>
                <c:pt idx="2">
                  <c:v>-0.1</c:v>
                </c:pt>
                <c:pt idx="3">
                  <c:v>0.4</c:v>
                </c:pt>
                <c:pt idx="4">
                  <c:v>0.4</c:v>
                </c:pt>
                <c:pt idx="5">
                  <c:v>0.15</c:v>
                </c:pt>
                <c:pt idx="6">
                  <c:v>-0.45</c:v>
                </c:pt>
                <c:pt idx="7">
                  <c:v>-0.52</c:v>
                </c:pt>
                <c:pt idx="8">
                  <c:v>0.26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5B32-42E6-BD51-466E8F6ED83A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BOS II daraja</c:v>
                </c:pt>
              </c:strCache>
            </c:strRef>
          </c:tx>
          <c:spPr>
            <a:solidFill>
              <a:srgbClr val="C9F87C"/>
            </a:solidFill>
            <a:ln>
              <a:solidFill>
                <a:schemeClr val="tx1"/>
              </a:solidFill>
            </a:ln>
          </c:spPr>
          <c:invertIfNegative val="0"/>
          <c:dLbls>
            <c:dLbl>
              <c:idx val="13"/>
              <c:layout>
                <c:manualLayout>
                  <c:x val="-1.9822678796004793E-16"/>
                  <c:y val="-3.89493652675376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5B32-42E6-BD51-466E8F6ED83A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Лист1!$A$2:$A$10</c:f>
              <c:strCache>
                <c:ptCount val="9"/>
                <c:pt idx="0">
                  <c:v>TNFα</c:v>
                </c:pt>
                <c:pt idx="1">
                  <c:v>IL-4</c:v>
                </c:pt>
                <c:pt idx="2">
                  <c:v>IFNγ</c:v>
                </c:pt>
                <c:pt idx="3">
                  <c:v>IL-8</c:v>
                </c:pt>
                <c:pt idx="4">
                  <c:v>IL-1β </c:v>
                </c:pt>
                <c:pt idx="5">
                  <c:v>IgG</c:v>
                </c:pt>
                <c:pt idx="6">
                  <c:v>IgA</c:v>
                </c:pt>
                <c:pt idx="7">
                  <c:v>IgM</c:v>
                </c:pt>
                <c:pt idx="8">
                  <c:v>IgЕ</c:v>
                </c:pt>
              </c:strCache>
            </c:strRef>
          </c:cat>
          <c:val>
            <c:numRef>
              <c:f>Лист1!$C$2:$C$10</c:f>
              <c:numCache>
                <c:formatCode>General</c:formatCode>
                <c:ptCount val="9"/>
                <c:pt idx="0">
                  <c:v>0.35</c:v>
                </c:pt>
                <c:pt idx="1">
                  <c:v>0.45</c:v>
                </c:pt>
                <c:pt idx="2">
                  <c:v>-0.24</c:v>
                </c:pt>
                <c:pt idx="3">
                  <c:v>0.13</c:v>
                </c:pt>
                <c:pt idx="4">
                  <c:v>0.27</c:v>
                </c:pt>
                <c:pt idx="5">
                  <c:v>0.21</c:v>
                </c:pt>
                <c:pt idx="6">
                  <c:v>0.25</c:v>
                </c:pt>
                <c:pt idx="7">
                  <c:v>0.33</c:v>
                </c:pt>
                <c:pt idx="8">
                  <c:v>0.44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5B32-42E6-BD51-466E8F6ED83A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BOS III daraja</c:v>
                </c:pt>
              </c:strCache>
            </c:strRef>
          </c:tx>
          <c:spPr>
            <a:solidFill>
              <a:srgbClr val="FED6F4"/>
            </a:solidFill>
            <a:ln>
              <a:solidFill>
                <a:schemeClr val="tx1"/>
              </a:solidFill>
            </a:ln>
          </c:spPr>
          <c:invertIfNegative val="0"/>
          <c:dLbls>
            <c:dLbl>
              <c:idx val="0"/>
              <c:layout>
                <c:manualLayout>
                  <c:x val="5.899705014749239E-3"/>
                  <c:y val="0"/>
                </c:manualLayout>
              </c:layout>
              <c:spPr/>
              <c:txPr>
                <a:bodyPr/>
                <a:lstStyle/>
                <a:p>
                  <a:pPr>
                    <a:defRPr sz="1400" b="0">
                      <a:solidFill>
                        <a:schemeClr val="tx1"/>
                      </a:solidFill>
                      <a:latin typeface="Times New Roman" pitchFamily="18" charset="0"/>
                      <a:cs typeface="Times New Roman" pitchFamily="18" charset="0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5B32-42E6-BD51-466E8F6ED83A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8.8495575221238486E-3"/>
                  <c:y val="-7.2463768115942091E-3"/>
                </c:manualLayout>
              </c:layout>
              <c:spPr/>
              <c:txPr>
                <a:bodyPr/>
                <a:lstStyle/>
                <a:p>
                  <a:pPr>
                    <a:defRPr sz="1400" b="0">
                      <a:solidFill>
                        <a:schemeClr val="tx1"/>
                      </a:solidFill>
                      <a:latin typeface="Times New Roman" pitchFamily="18" charset="0"/>
                      <a:cs typeface="Times New Roman" pitchFamily="18" charset="0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5B32-42E6-BD51-466E8F6ED83A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5.8997050147492677E-3"/>
                  <c:y val="-1.4492753623188409E-2"/>
                </c:manualLayout>
              </c:layout>
              <c:spPr/>
              <c:txPr>
                <a:bodyPr/>
                <a:lstStyle/>
                <a:p>
                  <a:pPr>
                    <a:defRPr sz="1400" b="0">
                      <a:solidFill>
                        <a:schemeClr val="tx1"/>
                      </a:solidFill>
                      <a:latin typeface="Times New Roman" pitchFamily="18" charset="0"/>
                      <a:cs typeface="Times New Roman" pitchFamily="18" charset="0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5B32-42E6-BD51-466E8F6ED83A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2.9498525073746312E-3"/>
                  <c:y val="0"/>
                </c:manualLayout>
              </c:layout>
              <c:spPr/>
              <c:txPr>
                <a:bodyPr/>
                <a:lstStyle/>
                <a:p>
                  <a:pPr>
                    <a:defRPr sz="1400" b="0">
                      <a:solidFill>
                        <a:schemeClr val="tx1"/>
                      </a:solidFill>
                      <a:latin typeface="Times New Roman" pitchFamily="18" charset="0"/>
                      <a:cs typeface="Times New Roman" pitchFamily="18" charset="0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5B32-42E6-BD51-466E8F6ED83A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Лист1!$A$2:$A$10</c:f>
              <c:strCache>
                <c:ptCount val="9"/>
                <c:pt idx="0">
                  <c:v>TNFα</c:v>
                </c:pt>
                <c:pt idx="1">
                  <c:v>IL-4</c:v>
                </c:pt>
                <c:pt idx="2">
                  <c:v>IFNγ</c:v>
                </c:pt>
                <c:pt idx="3">
                  <c:v>IL-8</c:v>
                </c:pt>
                <c:pt idx="4">
                  <c:v>IL-1β </c:v>
                </c:pt>
                <c:pt idx="5">
                  <c:v>IgG</c:v>
                </c:pt>
                <c:pt idx="6">
                  <c:v>IgA</c:v>
                </c:pt>
                <c:pt idx="7">
                  <c:v>IgM</c:v>
                </c:pt>
                <c:pt idx="8">
                  <c:v>IgЕ</c:v>
                </c:pt>
              </c:strCache>
            </c:strRef>
          </c:cat>
          <c:val>
            <c:numRef>
              <c:f>Лист1!$D$2:$D$10</c:f>
              <c:numCache>
                <c:formatCode>General</c:formatCode>
                <c:ptCount val="9"/>
                <c:pt idx="0">
                  <c:v>0.1</c:v>
                </c:pt>
                <c:pt idx="1">
                  <c:v>0.6</c:v>
                </c:pt>
                <c:pt idx="2">
                  <c:v>-0.4</c:v>
                </c:pt>
                <c:pt idx="3">
                  <c:v>0.1</c:v>
                </c:pt>
                <c:pt idx="4">
                  <c:v>0.4</c:v>
                </c:pt>
                <c:pt idx="5">
                  <c:v>-0.33</c:v>
                </c:pt>
                <c:pt idx="6">
                  <c:v>0.37</c:v>
                </c:pt>
                <c:pt idx="7">
                  <c:v>0.4</c:v>
                </c:pt>
                <c:pt idx="8">
                  <c:v>0.65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5B32-42E6-BD51-466E8F6ED8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32084600"/>
        <c:axId val="232086952"/>
      </c:barChart>
      <c:catAx>
        <c:axId val="2320846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defRPr>
            </a:pPr>
            <a:endParaRPr lang="ru-RU"/>
          </a:p>
        </c:txPr>
        <c:crossAx val="232086952"/>
        <c:crosses val="autoZero"/>
        <c:auto val="1"/>
        <c:lblAlgn val="ctr"/>
        <c:lblOffset val="100"/>
        <c:noMultiLvlLbl val="0"/>
      </c:catAx>
      <c:valAx>
        <c:axId val="23208695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32084600"/>
        <c:crosses val="autoZero"/>
        <c:crossBetween val="between"/>
      </c:valAx>
      <c:dTable>
        <c:showHorzBorder val="1"/>
        <c:showVertBorder val="1"/>
        <c:showOutline val="1"/>
        <c:showKeys val="1"/>
        <c:txPr>
          <a:bodyPr/>
          <a:lstStyle/>
          <a:p>
            <a:pPr rtl="0">
              <a:defRPr sz="120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endParaRPr lang="ru-RU"/>
          </a:p>
        </c:txPr>
      </c:dTable>
    </c:plotArea>
    <c:legend>
      <c:legendPos val="r"/>
      <c:layout>
        <c:manualLayout>
          <c:xMode val="edge"/>
          <c:yMode val="edge"/>
          <c:x val="8.0020287194980215E-3"/>
          <c:y val="5.1301622481753531E-2"/>
          <c:w val="0.12606418515867335"/>
          <c:h val="0.56697340575539901"/>
        </c:manualLayout>
      </c:layout>
      <c:overlay val="0"/>
      <c:txPr>
        <a:bodyPr/>
        <a:lstStyle/>
        <a:p>
          <a:pPr>
            <a:defRPr sz="1400" b="1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defRPr>
          </a:pPr>
          <a:endParaRPr lang="ru-RU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view3D>
      <c:rotX val="30"/>
      <c:rotY val="30"/>
      <c:depthPercent val="100"/>
      <c:rAngAx val="1"/>
    </c:view3D>
    <c:floor>
      <c:thickness val="0"/>
      <c:spPr>
        <a:solidFill>
          <a:schemeClr val="bg1"/>
        </a:solidFill>
      </c:spPr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2.51796481820535E-2"/>
          <c:y val="0"/>
          <c:w val="0.97358128794200194"/>
          <c:h val="0.79588679738974477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I Guruh</c:v>
                </c:pt>
              </c:strCache>
            </c:strRef>
          </c:tx>
          <c:spPr>
            <a:solidFill>
              <a:srgbClr val="F5A9E3"/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c:spPr>
          <c:invertIfNegative val="0"/>
          <c:dLbls>
            <c:dLbl>
              <c:idx val="8"/>
              <c:layout>
                <c:manualLayout>
                  <c:x val="-9.7222222222222241E-3"/>
                  <c:y val="5.235602094240864E-3"/>
                </c:manualLayout>
              </c:layout>
              <c:spPr/>
              <c:txPr>
                <a:bodyPr/>
                <a:lstStyle/>
                <a:p>
                  <a:pPr>
                    <a:defRPr sz="1400" b="0">
                      <a:solidFill>
                        <a:schemeClr val="tx1"/>
                      </a:solidFill>
                      <a:latin typeface="Times New Roman" pitchFamily="18" charset="0"/>
                      <a:cs typeface="Times New Roman" pitchFamily="18" charset="0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AC73-4CBE-8960-E8F55662FBCD}"/>
                </c:ext>
                <c:ext xmlns:c15="http://schemas.microsoft.com/office/drawing/2012/chart" uri="{CE6537A1-D6FC-4f65-9D91-7224C49458BB}"/>
              </c:extLst>
            </c:dLbl>
            <c:dLbl>
              <c:idx val="12"/>
              <c:layout>
                <c:manualLayout>
                  <c:x val="-1.3888888888889025E-2"/>
                  <c:y val="1.0471204188481679E-2"/>
                </c:manualLayout>
              </c:layout>
              <c:spPr/>
              <c:txPr>
                <a:bodyPr/>
                <a:lstStyle/>
                <a:p>
                  <a:pPr>
                    <a:defRPr sz="1400" b="0">
                      <a:solidFill>
                        <a:schemeClr val="tx1"/>
                      </a:solidFill>
                      <a:latin typeface="Times New Roman" pitchFamily="18" charset="0"/>
                      <a:cs typeface="Times New Roman" pitchFamily="18" charset="0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AC73-4CBE-8960-E8F55662FBCD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Лист1!$A$2:$A$12</c:f>
              <c:strCache>
                <c:ptCount val="11"/>
                <c:pt idx="0">
                  <c:v>Holsizlik</c:v>
                </c:pt>
                <c:pt idx="1">
                  <c:v>Ishtaha pasayishi</c:v>
                </c:pt>
                <c:pt idx="2">
                  <c:v>Hansirash</c:v>
                </c:pt>
                <c:pt idx="3">
                  <c:v>Burun-lab uchburchagi sianozi</c:v>
                </c:pt>
                <c:pt idx="4">
                  <c:v>Quruq yo'tal</c:v>
                </c:pt>
                <c:pt idx="5">
                  <c:v>Ho'l yotal</c:v>
                </c:pt>
                <c:pt idx="6">
                  <c:v>Febril harorat</c:v>
                </c:pt>
                <c:pt idx="7">
                  <c:v>Qutisimon perkutor tovush</c:v>
                </c:pt>
                <c:pt idx="8">
                  <c:v>Auskultativ qattiq nafas</c:v>
                </c:pt>
                <c:pt idx="9">
                  <c:v>Quruq hushtaksimon xirillashlar</c:v>
                </c:pt>
                <c:pt idx="10">
                  <c:v>Ho'l xirillashlar</c:v>
                </c:pt>
              </c:strCache>
            </c:strRef>
          </c:cat>
          <c:val>
            <c:numRef>
              <c:f>Лист1!$B$2:$B$12</c:f>
              <c:numCache>
                <c:formatCode>General</c:formatCode>
                <c:ptCount val="11"/>
                <c:pt idx="0">
                  <c:v>5.8</c:v>
                </c:pt>
                <c:pt idx="1">
                  <c:v>6.3</c:v>
                </c:pt>
                <c:pt idx="2">
                  <c:v>4.5</c:v>
                </c:pt>
                <c:pt idx="3">
                  <c:v>3.7</c:v>
                </c:pt>
                <c:pt idx="4">
                  <c:v>4.2</c:v>
                </c:pt>
                <c:pt idx="5">
                  <c:v>10.199999999999999</c:v>
                </c:pt>
                <c:pt idx="6">
                  <c:v>5.5</c:v>
                </c:pt>
                <c:pt idx="7">
                  <c:v>6.1</c:v>
                </c:pt>
                <c:pt idx="8">
                  <c:v>11.2</c:v>
                </c:pt>
                <c:pt idx="9">
                  <c:v>10.7</c:v>
                </c:pt>
                <c:pt idx="10">
                  <c:v>9.1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AC73-4CBE-8960-E8F55662FBC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II Guruh BOS II daraja</c:v>
                </c:pt>
              </c:strCache>
            </c:strRef>
          </c:tx>
          <c:spPr>
            <a:solidFill>
              <a:srgbClr val="FFC000"/>
            </a:solidFill>
            <a:ln>
              <a:solidFill>
                <a:srgbClr val="EDB6F8"/>
              </a:solidFill>
            </a:ln>
          </c:spPr>
          <c:invertIfNegative val="0"/>
          <c:dLbls>
            <c:dLbl>
              <c:idx val="2"/>
              <c:layout>
                <c:manualLayout>
                  <c:x val="1.1111111111111131E-2"/>
                  <c:y val="0"/>
                </c:manualLayout>
              </c:layout>
              <c:spPr/>
              <c:txPr>
                <a:bodyPr/>
                <a:lstStyle/>
                <a:p>
                  <a:pPr>
                    <a:defRPr sz="1400" b="0">
                      <a:solidFill>
                        <a:schemeClr val="tx1"/>
                      </a:solidFill>
                      <a:latin typeface="Times New Roman" pitchFamily="18" charset="0"/>
                      <a:cs typeface="Times New Roman" pitchFamily="18" charset="0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DA58-4CAC-BE22-A3468E6C76F0}"/>
                </c:ext>
                <c:ext xmlns:c15="http://schemas.microsoft.com/office/drawing/2012/chart" uri="{CE6537A1-D6FC-4f65-9D91-7224C49458BB}"/>
              </c:extLst>
            </c:dLbl>
            <c:dLbl>
              <c:idx val="7"/>
              <c:layout>
                <c:manualLayout>
                  <c:x val="1.1111111111111131E-2"/>
                  <c:y val="7.8534031413612735E-3"/>
                </c:manualLayout>
              </c:layout>
              <c:spPr/>
              <c:txPr>
                <a:bodyPr/>
                <a:lstStyle/>
                <a:p>
                  <a:pPr>
                    <a:defRPr sz="1400" b="0">
                      <a:solidFill>
                        <a:schemeClr val="tx1"/>
                      </a:solidFill>
                      <a:latin typeface="Times New Roman" pitchFamily="18" charset="0"/>
                      <a:cs typeface="Times New Roman" pitchFamily="18" charset="0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AC73-4CBE-8960-E8F55662FBCD}"/>
                </c:ext>
                <c:ext xmlns:c15="http://schemas.microsoft.com/office/drawing/2012/chart" uri="{CE6537A1-D6FC-4f65-9D91-7224C49458BB}"/>
              </c:extLst>
            </c:dLbl>
            <c:dLbl>
              <c:idx val="12"/>
              <c:layout>
                <c:manualLayout>
                  <c:x val="-9.72222222222212E-3"/>
                  <c:y val="2.3560209424083794E-2"/>
                </c:manualLayout>
              </c:layout>
              <c:spPr/>
              <c:txPr>
                <a:bodyPr/>
                <a:lstStyle/>
                <a:p>
                  <a:pPr>
                    <a:defRPr sz="1400" b="0">
                      <a:solidFill>
                        <a:schemeClr val="tx1"/>
                      </a:solidFill>
                      <a:latin typeface="Times New Roman" pitchFamily="18" charset="0"/>
                      <a:cs typeface="Times New Roman" pitchFamily="18" charset="0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B-AC73-4CBE-8960-E8F55662FBCD}"/>
                </c:ext>
                <c:ext xmlns:c15="http://schemas.microsoft.com/office/drawing/2012/chart" uri="{CE6537A1-D6FC-4f65-9D91-7224C49458BB}"/>
              </c:extLst>
            </c:dLbl>
            <c:dLbl>
              <c:idx val="13"/>
              <c:layout>
                <c:manualLayout>
                  <c:x val="-1.2500000000000006E-2"/>
                  <c:y val="7.8534031413612735E-3"/>
                </c:manualLayout>
              </c:layout>
              <c:spPr/>
              <c:txPr>
                <a:bodyPr/>
                <a:lstStyle/>
                <a:p>
                  <a:pPr>
                    <a:defRPr sz="1400" b="0">
                      <a:solidFill>
                        <a:schemeClr val="tx1"/>
                      </a:solidFill>
                      <a:latin typeface="Times New Roman" pitchFamily="18" charset="0"/>
                      <a:cs typeface="Times New Roman" pitchFamily="18" charset="0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C-AC73-4CBE-8960-E8F55662FBCD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Лист1!$A$2:$A$12</c:f>
              <c:strCache>
                <c:ptCount val="11"/>
                <c:pt idx="0">
                  <c:v>Holsizlik</c:v>
                </c:pt>
                <c:pt idx="1">
                  <c:v>Ishtaha pasayishi</c:v>
                </c:pt>
                <c:pt idx="2">
                  <c:v>Hansirash</c:v>
                </c:pt>
                <c:pt idx="3">
                  <c:v>Burun-lab uchburchagi sianozi</c:v>
                </c:pt>
                <c:pt idx="4">
                  <c:v>Quruq yo'tal</c:v>
                </c:pt>
                <c:pt idx="5">
                  <c:v>Ho'l yotal</c:v>
                </c:pt>
                <c:pt idx="6">
                  <c:v>Febril harorat</c:v>
                </c:pt>
                <c:pt idx="7">
                  <c:v>Qutisimon perkutor tovush</c:v>
                </c:pt>
                <c:pt idx="8">
                  <c:v>Auskultativ qattiq nafas</c:v>
                </c:pt>
                <c:pt idx="9">
                  <c:v>Quruq hushtaksimon xirillashlar</c:v>
                </c:pt>
                <c:pt idx="10">
                  <c:v>Ho'l xirillashlar</c:v>
                </c:pt>
              </c:strCache>
            </c:strRef>
          </c:cat>
          <c:val>
            <c:numRef>
              <c:f>Лист1!$C$2:$C$12</c:f>
              <c:numCache>
                <c:formatCode>General</c:formatCode>
                <c:ptCount val="11"/>
                <c:pt idx="0">
                  <c:v>2.5</c:v>
                </c:pt>
                <c:pt idx="1">
                  <c:v>3.3</c:v>
                </c:pt>
                <c:pt idx="2">
                  <c:v>3.1</c:v>
                </c:pt>
                <c:pt idx="3">
                  <c:v>2.2999999999999998</c:v>
                </c:pt>
                <c:pt idx="4">
                  <c:v>3</c:v>
                </c:pt>
                <c:pt idx="5">
                  <c:v>5.6</c:v>
                </c:pt>
                <c:pt idx="6">
                  <c:v>1.6</c:v>
                </c:pt>
                <c:pt idx="7">
                  <c:v>3.7</c:v>
                </c:pt>
                <c:pt idx="8">
                  <c:v>7.1</c:v>
                </c:pt>
                <c:pt idx="9">
                  <c:v>4.0999999999999996</c:v>
                </c:pt>
                <c:pt idx="10">
                  <c:v>4.5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D-AC73-4CBE-8960-E8F55662FBCD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II Guruh BOS III daraja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</c:spPr>
          <c:invertIfNegative val="0"/>
          <c:dLbls>
            <c:dLbl>
              <c:idx val="13"/>
              <c:layout>
                <c:manualLayout>
                  <c:x val="1.0185067526416067E-16"/>
                  <c:y val="-1.3089005235602136E-2"/>
                </c:manualLayout>
              </c:layout>
              <c:spPr/>
              <c:txPr>
                <a:bodyPr/>
                <a:lstStyle/>
                <a:p>
                  <a:pPr>
                    <a:defRPr sz="1400" b="0">
                      <a:solidFill>
                        <a:schemeClr val="tx1"/>
                      </a:solidFill>
                      <a:latin typeface="Times New Roman" pitchFamily="18" charset="0"/>
                      <a:cs typeface="Times New Roman" pitchFamily="18" charset="0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0-AC73-4CBE-8960-E8F55662FBCD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Лист1!$A$2:$A$12</c:f>
              <c:strCache>
                <c:ptCount val="11"/>
                <c:pt idx="0">
                  <c:v>Holsizlik</c:v>
                </c:pt>
                <c:pt idx="1">
                  <c:v>Ishtaha pasayishi</c:v>
                </c:pt>
                <c:pt idx="2">
                  <c:v>Hansirash</c:v>
                </c:pt>
                <c:pt idx="3">
                  <c:v>Burun-lab uchburchagi sianozi</c:v>
                </c:pt>
                <c:pt idx="4">
                  <c:v>Quruq yo'tal</c:v>
                </c:pt>
                <c:pt idx="5">
                  <c:v>Ho'l yotal</c:v>
                </c:pt>
                <c:pt idx="6">
                  <c:v>Febril harorat</c:v>
                </c:pt>
                <c:pt idx="7">
                  <c:v>Qutisimon perkutor tovush</c:v>
                </c:pt>
                <c:pt idx="8">
                  <c:v>Auskultativ qattiq nafas</c:v>
                </c:pt>
                <c:pt idx="9">
                  <c:v>Quruq hushtaksimon xirillashlar</c:v>
                </c:pt>
                <c:pt idx="10">
                  <c:v>Ho'l xirillashlar</c:v>
                </c:pt>
              </c:strCache>
            </c:strRef>
          </c:cat>
          <c:val>
            <c:numRef>
              <c:f>Лист1!$D$2:$D$12</c:f>
              <c:numCache>
                <c:formatCode>General</c:formatCode>
                <c:ptCount val="11"/>
                <c:pt idx="0">
                  <c:v>3.4</c:v>
                </c:pt>
                <c:pt idx="1">
                  <c:v>5.5</c:v>
                </c:pt>
                <c:pt idx="2">
                  <c:v>3.6</c:v>
                </c:pt>
                <c:pt idx="3">
                  <c:v>2.5</c:v>
                </c:pt>
                <c:pt idx="4">
                  <c:v>3.5</c:v>
                </c:pt>
                <c:pt idx="5">
                  <c:v>8.6999999999999993</c:v>
                </c:pt>
                <c:pt idx="6">
                  <c:v>3.2</c:v>
                </c:pt>
                <c:pt idx="7">
                  <c:v>4.5</c:v>
                </c:pt>
                <c:pt idx="8">
                  <c:v>9</c:v>
                </c:pt>
                <c:pt idx="9">
                  <c:v>8.4</c:v>
                </c:pt>
                <c:pt idx="10">
                  <c:v>7.5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1-AC73-4CBE-8960-E8F55662FB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232086560"/>
        <c:axId val="232084208"/>
        <c:axId val="0"/>
      </c:bar3DChart>
      <c:catAx>
        <c:axId val="2320865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 b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pPr>
            <a:endParaRPr lang="ru-RU"/>
          </a:p>
        </c:txPr>
        <c:crossAx val="232084208"/>
        <c:crosses val="autoZero"/>
        <c:auto val="1"/>
        <c:lblAlgn val="ctr"/>
        <c:lblOffset val="100"/>
        <c:noMultiLvlLbl val="0"/>
      </c:catAx>
      <c:valAx>
        <c:axId val="23208420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32086560"/>
        <c:crosses val="autoZero"/>
        <c:crossBetween val="between"/>
      </c:valAx>
      <c:spPr>
        <a:noFill/>
        <a:ln w="25377">
          <a:noFill/>
        </a:ln>
      </c:spPr>
    </c:plotArea>
    <c:legend>
      <c:legendPos val="r"/>
      <c:layout>
        <c:manualLayout>
          <c:xMode val="edge"/>
          <c:yMode val="edge"/>
          <c:x val="4.9525942209288985E-2"/>
          <c:y val="0.91124501159360849"/>
          <c:w val="0.91911409819016354"/>
          <c:h val="8.8754988406391469E-2"/>
        </c:manualLayout>
      </c:layout>
      <c:overlay val="0"/>
      <c:txPr>
        <a:bodyPr/>
        <a:lstStyle/>
        <a:p>
          <a:pPr>
            <a:defRPr sz="2400" b="1">
              <a:solidFill>
                <a:schemeClr val="tx1"/>
              </a:solidFill>
              <a:latin typeface="Times New Roman" pitchFamily="18" charset="0"/>
              <a:cs typeface="Times New Roman" pitchFamily="18" charset="0"/>
            </a:defRPr>
          </a:pPr>
          <a:endParaRPr lang="ru-RU"/>
        </a:p>
      </c:txPr>
    </c:legend>
    <c:plotVisOnly val="1"/>
    <c:dispBlanksAs val="gap"/>
    <c:showDLblsOverMax val="0"/>
  </c:chart>
  <c:txPr>
    <a:bodyPr/>
    <a:lstStyle/>
    <a:p>
      <a:pPr>
        <a:defRPr sz="1796"/>
      </a:pPr>
      <a:endParaRPr lang="ru-RU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view3D>
      <c:rotX val="30"/>
      <c:rotY val="20"/>
      <c:depthPercent val="100"/>
      <c:rAngAx val="1"/>
    </c:view3D>
    <c:floor>
      <c:thickness val="0"/>
      <c:spPr>
        <a:solidFill>
          <a:schemeClr val="bg1"/>
        </a:solidFill>
      </c:spPr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0.15052567461766519"/>
          <c:y val="1.4433045924836397E-2"/>
          <c:w val="0.81482561751806548"/>
          <c:h val="0.76822940904520454"/>
        </c:manualLayout>
      </c:layout>
      <c:bar3D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Amaliy sog'lom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>
                    <a:solidFill>
                      <a:sysClr val="windowText" lastClr="000000"/>
                    </a:solidFill>
                    <a:latin typeface="Times New Roman" pitchFamily="18" charset="0"/>
                    <a:cs typeface="Times New Roman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Лист1!$A$2:$A$5</c:f>
              <c:strCache>
                <c:ptCount val="4"/>
                <c:pt idx="0">
                  <c:v>IgG, мг/%*10</c:v>
                </c:pt>
                <c:pt idx="1">
                  <c:v>IgA, мг/%</c:v>
                </c:pt>
                <c:pt idx="2">
                  <c:v>IgM, мг/%</c:v>
                </c:pt>
                <c:pt idx="3">
                  <c:v>IgЕ, мг/%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93.8</c:v>
                </c:pt>
                <c:pt idx="1">
                  <c:v>107.9</c:v>
                </c:pt>
                <c:pt idx="2">
                  <c:v>90.7</c:v>
                </c:pt>
                <c:pt idx="3">
                  <c:v>52.6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37E9-422A-ADFB-EDA142E985B3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I guruh</c:v>
                </c:pt>
              </c:strCache>
            </c:strRef>
          </c:tx>
          <c:spPr>
            <a:solidFill>
              <a:srgbClr val="FFFF0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Лист1!$A$2:$A$5</c:f>
              <c:strCache>
                <c:ptCount val="4"/>
                <c:pt idx="0">
                  <c:v>IgG, мг/%*10</c:v>
                </c:pt>
                <c:pt idx="1">
                  <c:v>IgA, мг/%</c:v>
                </c:pt>
                <c:pt idx="2">
                  <c:v>IgM, мг/%</c:v>
                </c:pt>
                <c:pt idx="3">
                  <c:v>IgЕ, мг/%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86.1</c:v>
                </c:pt>
                <c:pt idx="1">
                  <c:v>92.1</c:v>
                </c:pt>
                <c:pt idx="2">
                  <c:v>137.4</c:v>
                </c:pt>
                <c:pt idx="3">
                  <c:v>108.8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37E9-422A-ADFB-EDA142E985B3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II guruh BOS II daraja</c:v>
                </c:pt>
              </c:strCache>
            </c:strRef>
          </c:tx>
          <c:spPr>
            <a:solidFill>
              <a:srgbClr val="C00000"/>
            </a:solidFill>
            <a:ln>
              <a:solidFill>
                <a:srgbClr val="925BFF"/>
              </a:solidFill>
            </a:ln>
          </c:spPr>
          <c:invertIfNegative val="0"/>
          <c:dLbls>
            <c:dLbl>
              <c:idx val="1"/>
              <c:layout>
                <c:manualLayout>
                  <c:x val="1.4749262536873139E-2"/>
                  <c:y val="-1.4492753623188409E-2"/>
                </c:manualLayout>
              </c:layout>
              <c:spPr/>
              <c:txPr>
                <a:bodyPr/>
                <a:lstStyle/>
                <a:p>
                  <a:pPr>
                    <a:defRPr sz="1200" b="0">
                      <a:solidFill>
                        <a:sysClr val="windowText" lastClr="000000"/>
                      </a:solidFill>
                      <a:latin typeface="Times New Roman" pitchFamily="18" charset="0"/>
                      <a:cs typeface="Times New Roman" pitchFamily="18" charset="0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37E9-422A-ADFB-EDA142E985B3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1.6224188790560461E-2"/>
                  <c:y val="-3.6231884057971097E-3"/>
                </c:manualLayout>
              </c:layout>
              <c:spPr/>
              <c:txPr>
                <a:bodyPr/>
                <a:lstStyle/>
                <a:p>
                  <a:pPr>
                    <a:defRPr sz="1200" b="0">
                      <a:solidFill>
                        <a:sysClr val="windowText" lastClr="000000"/>
                      </a:solidFill>
                      <a:latin typeface="Times New Roman" pitchFamily="18" charset="0"/>
                      <a:cs typeface="Times New Roman" pitchFamily="18" charset="0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37E9-422A-ADFB-EDA142E985B3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5.8997050147492729E-3"/>
                  <c:y val="-7.2463768115942177E-3"/>
                </c:manualLayout>
              </c:layout>
              <c:spPr/>
              <c:txPr>
                <a:bodyPr/>
                <a:lstStyle/>
                <a:p>
                  <a:pPr>
                    <a:defRPr sz="1200" b="0">
                      <a:solidFill>
                        <a:sysClr val="windowText" lastClr="000000"/>
                      </a:solidFill>
                      <a:latin typeface="Times New Roman" pitchFamily="18" charset="0"/>
                      <a:cs typeface="Times New Roman" pitchFamily="18" charset="0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37E9-422A-ADFB-EDA142E985B3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>
                    <a:solidFill>
                      <a:sysClr val="windowText" lastClr="000000"/>
                    </a:solidFill>
                    <a:latin typeface="Times New Roman" pitchFamily="18" charset="0"/>
                    <a:cs typeface="Times New Roman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Лист1!$A$2:$A$5</c:f>
              <c:strCache>
                <c:ptCount val="4"/>
                <c:pt idx="0">
                  <c:v>IgG, мг/%*10</c:v>
                </c:pt>
                <c:pt idx="1">
                  <c:v>IgA, мг/%</c:v>
                </c:pt>
                <c:pt idx="2">
                  <c:v>IgM, мг/%</c:v>
                </c:pt>
                <c:pt idx="3">
                  <c:v>IgЕ, мг/%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  <c:pt idx="0">
                  <c:v>94.2</c:v>
                </c:pt>
                <c:pt idx="1">
                  <c:v>102.4</c:v>
                </c:pt>
                <c:pt idx="2">
                  <c:v>98.1</c:v>
                </c:pt>
                <c:pt idx="3">
                  <c:v>63.1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5-37E9-422A-ADFB-EDA142E985B3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II guruh BOS III daraja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Лист1!$A$2:$A$5</c:f>
              <c:strCache>
                <c:ptCount val="4"/>
                <c:pt idx="0">
                  <c:v>IgG, мг/%*10</c:v>
                </c:pt>
                <c:pt idx="1">
                  <c:v>IgA, мг/%</c:v>
                </c:pt>
                <c:pt idx="2">
                  <c:v>IgM, мг/%</c:v>
                </c:pt>
                <c:pt idx="3">
                  <c:v>IgЕ, мг/%</c:v>
                </c:pt>
              </c:strCache>
            </c:strRef>
          </c:cat>
          <c:val>
            <c:numRef>
              <c:f>Лист1!$E$2:$E$5</c:f>
              <c:numCache>
                <c:formatCode>General</c:formatCode>
                <c:ptCount val="4"/>
                <c:pt idx="0">
                  <c:v>90.9</c:v>
                </c:pt>
                <c:pt idx="1">
                  <c:v>95.8</c:v>
                </c:pt>
                <c:pt idx="2">
                  <c:v>124.7</c:v>
                </c:pt>
                <c:pt idx="3">
                  <c:v>71.3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9-37E9-422A-ADFB-EDA142E985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232085384"/>
        <c:axId val="232086168"/>
        <c:axId val="0"/>
      </c:bar3DChart>
      <c:catAx>
        <c:axId val="23208538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 b="1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defRPr>
            </a:pPr>
            <a:endParaRPr lang="ru-RU"/>
          </a:p>
        </c:txPr>
        <c:crossAx val="232086168"/>
        <c:crosses val="autoZero"/>
        <c:auto val="1"/>
        <c:lblAlgn val="ctr"/>
        <c:lblOffset val="100"/>
        <c:noMultiLvlLbl val="0"/>
      </c:catAx>
      <c:valAx>
        <c:axId val="2320861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1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defRPr>
            </a:pPr>
            <a:endParaRPr lang="ru-RU"/>
          </a:p>
        </c:txPr>
        <c:crossAx val="232085384"/>
        <c:crosses val="autoZero"/>
        <c:crossBetween val="between"/>
      </c:valAx>
      <c:spPr>
        <a:noFill/>
        <a:ln w="25420">
          <a:noFill/>
        </a:ln>
      </c:spPr>
    </c:plotArea>
    <c:legend>
      <c:legendPos val="r"/>
      <c:layout>
        <c:manualLayout>
          <c:xMode val="edge"/>
          <c:yMode val="edge"/>
          <c:x val="0"/>
          <c:y val="0.84292859900182637"/>
          <c:w val="0.95450977324200947"/>
          <c:h val="0.1570714009981736"/>
        </c:manualLayout>
      </c:layout>
      <c:overlay val="0"/>
      <c:txPr>
        <a:bodyPr/>
        <a:lstStyle/>
        <a:p>
          <a:pPr>
            <a:defRPr sz="1400" b="1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defRPr>
          </a:pPr>
          <a:endParaRPr lang="ru-RU"/>
        </a:p>
      </c:txPr>
    </c:legend>
    <c:plotVisOnly val="1"/>
    <c:dispBlanksAs val="gap"/>
    <c:showDLblsOverMax val="0"/>
  </c:chart>
  <c:txPr>
    <a:bodyPr/>
    <a:lstStyle/>
    <a:p>
      <a:pPr>
        <a:defRPr sz="1801"/>
      </a:pPr>
      <a:endParaRPr lang="ru-RU"/>
    </a:p>
  </c:txPr>
  <c:externalData r:id="rId1">
    <c:autoUpdate val="0"/>
  </c:externalData>
  <c:userShapes r:id="rId2"/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 w="25400">
          <a:noFill/>
        </a:ln>
        <a:effectLst/>
        <a:sp3d/>
      </c:spPr>
    </c:sideWall>
    <c:backWall>
      <c:thickness val="0"/>
      <c:spPr>
        <a:noFill/>
        <a:ln w="25400"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1.4588584837490998E-2"/>
          <c:y val="3.5877351327626102E-2"/>
          <c:w val="0.9756461622072522"/>
          <c:h val="0.70635861371758291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I guruh</c:v>
                </c:pt>
              </c:strCache>
            </c:strRef>
          </c:tx>
          <c:spPr>
            <a:solidFill>
              <a:srgbClr val="92D050"/>
            </a:solidFill>
            <a:ln>
              <a:solidFill>
                <a:schemeClr val="tx1"/>
              </a:solidFill>
            </a:ln>
            <a:effectLst/>
            <a:sp3d>
              <a:contourClr>
                <a:schemeClr val="tx1"/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Лист1!$A$2:$A$6</c:f>
              <c:strCache>
                <c:ptCount val="5"/>
                <c:pt idx="0">
                  <c:v>TNFα пг/мл</c:v>
                </c:pt>
                <c:pt idx="1">
                  <c:v>IL – 4 пг/мл</c:v>
                </c:pt>
                <c:pt idx="2">
                  <c:v>IFNγ пг/мл</c:v>
                </c:pt>
                <c:pt idx="3">
                  <c:v>IL – 8 пг/мл</c:v>
                </c:pt>
                <c:pt idx="4">
                  <c:v>IL-1β </c:v>
                </c:pt>
              </c:strCache>
            </c:strRef>
          </c:cat>
          <c:val>
            <c:numRef>
              <c:f>Лист1!$B$2:$B$6</c:f>
              <c:numCache>
                <c:formatCode>General</c:formatCode>
                <c:ptCount val="5"/>
                <c:pt idx="0">
                  <c:v>72.400000000000006</c:v>
                </c:pt>
                <c:pt idx="1">
                  <c:v>23.9</c:v>
                </c:pt>
                <c:pt idx="2">
                  <c:v>18.600000000000001</c:v>
                </c:pt>
                <c:pt idx="3">
                  <c:v>89.7</c:v>
                </c:pt>
                <c:pt idx="4">
                  <c:v>167.4</c:v>
                </c:pt>
              </c:numCache>
            </c:numRef>
          </c:val>
          <c:shape val="cylinder"/>
          <c:extLst xmlns:c16r2="http://schemas.microsoft.com/office/drawing/2015/06/chart">
            <c:ext xmlns:c16="http://schemas.microsoft.com/office/drawing/2014/chart" uri="{C3380CC4-5D6E-409C-BE32-E72D297353CC}">
              <c16:uniqueId val="{00000000-B176-498A-953F-01390378D89C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II guruh BOS II daraja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  <a:effectLst/>
            <a:sp3d>
              <a:contourClr>
                <a:schemeClr val="accent1">
                  <a:lumMod val="75000"/>
                </a:schemeClr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Лист1!$A$2:$A$6</c:f>
              <c:strCache>
                <c:ptCount val="5"/>
                <c:pt idx="0">
                  <c:v>TNFα пг/мл</c:v>
                </c:pt>
                <c:pt idx="1">
                  <c:v>IL – 4 пг/мл</c:v>
                </c:pt>
                <c:pt idx="2">
                  <c:v>IFNγ пг/мл</c:v>
                </c:pt>
                <c:pt idx="3">
                  <c:v>IL – 8 пг/мл</c:v>
                </c:pt>
                <c:pt idx="4">
                  <c:v>IL-1β </c:v>
                </c:pt>
              </c:strCache>
            </c:strRef>
          </c:cat>
          <c:val>
            <c:numRef>
              <c:f>Лист1!$C$2:$C$6</c:f>
              <c:numCache>
                <c:formatCode>General</c:formatCode>
                <c:ptCount val="5"/>
                <c:pt idx="0">
                  <c:v>55.8</c:v>
                </c:pt>
                <c:pt idx="1">
                  <c:v>16.600000000000001</c:v>
                </c:pt>
                <c:pt idx="2">
                  <c:v>26.3</c:v>
                </c:pt>
                <c:pt idx="3">
                  <c:v>53.3</c:v>
                </c:pt>
                <c:pt idx="4">
                  <c:v>86.4</c:v>
                </c:pt>
              </c:numCache>
            </c:numRef>
          </c:val>
          <c:shape val="cylinder"/>
          <c:extLst xmlns:c16r2="http://schemas.microsoft.com/office/drawing/2015/06/chart">
            <c:ext xmlns:c16="http://schemas.microsoft.com/office/drawing/2014/chart" uri="{C3380CC4-5D6E-409C-BE32-E72D297353CC}">
              <c16:uniqueId val="{00000001-B176-498A-953F-01390378D89C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II guruh III daraja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Лист1!$A$2:$A$6</c:f>
              <c:strCache>
                <c:ptCount val="5"/>
                <c:pt idx="0">
                  <c:v>TNFα пг/мл</c:v>
                </c:pt>
                <c:pt idx="1">
                  <c:v>IL – 4 пг/мл</c:v>
                </c:pt>
                <c:pt idx="2">
                  <c:v>IFNγ пг/мл</c:v>
                </c:pt>
                <c:pt idx="3">
                  <c:v>IL – 8 пг/мл</c:v>
                </c:pt>
                <c:pt idx="4">
                  <c:v>IL-1β </c:v>
                </c:pt>
              </c:strCache>
            </c:strRef>
          </c:cat>
          <c:val>
            <c:numRef>
              <c:f>Лист1!$D$2:$D$6</c:f>
              <c:numCache>
                <c:formatCode>General</c:formatCode>
                <c:ptCount val="5"/>
                <c:pt idx="0">
                  <c:v>60.2</c:v>
                </c:pt>
                <c:pt idx="1">
                  <c:v>19.8</c:v>
                </c:pt>
                <c:pt idx="2">
                  <c:v>22.4</c:v>
                </c:pt>
                <c:pt idx="3">
                  <c:v>65.400000000000006</c:v>
                </c:pt>
                <c:pt idx="4">
                  <c:v>122.9</c:v>
                </c:pt>
              </c:numCache>
            </c:numRef>
          </c:val>
          <c:shape val="cylinder"/>
          <c:extLst xmlns:c16r2="http://schemas.microsoft.com/office/drawing/2015/06/chart">
            <c:ext xmlns:c16="http://schemas.microsoft.com/office/drawing/2014/chart" uri="{C3380CC4-5D6E-409C-BE32-E72D297353CC}">
              <c16:uniqueId val="{00000002-B176-498A-953F-01390378D89C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Amaliy sog'lom</c:v>
                </c:pt>
              </c:strCache>
            </c:strRef>
          </c:tx>
          <c:spPr>
            <a:solidFill>
              <a:srgbClr val="F5A9E3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Лист1!$A$2:$A$6</c:f>
              <c:strCache>
                <c:ptCount val="5"/>
                <c:pt idx="0">
                  <c:v>TNFα пг/мл</c:v>
                </c:pt>
                <c:pt idx="1">
                  <c:v>IL – 4 пг/мл</c:v>
                </c:pt>
                <c:pt idx="2">
                  <c:v>IFNγ пг/мл</c:v>
                </c:pt>
                <c:pt idx="3">
                  <c:v>IL – 8 пг/мл</c:v>
                </c:pt>
                <c:pt idx="4">
                  <c:v>IL-1β </c:v>
                </c:pt>
              </c:strCache>
            </c:strRef>
          </c:cat>
          <c:val>
            <c:numRef>
              <c:f>Лист1!$E$2:$E$6</c:f>
              <c:numCache>
                <c:formatCode>General</c:formatCode>
                <c:ptCount val="5"/>
                <c:pt idx="0">
                  <c:v>28.4</c:v>
                </c:pt>
                <c:pt idx="1">
                  <c:v>4.5999999999999996</c:v>
                </c:pt>
                <c:pt idx="2">
                  <c:v>34.299999999999997</c:v>
                </c:pt>
                <c:pt idx="3">
                  <c:v>19.2</c:v>
                </c:pt>
                <c:pt idx="4">
                  <c:v>52.4</c:v>
                </c:pt>
              </c:numCache>
            </c:numRef>
          </c:val>
          <c:shape val="cylinder"/>
          <c:extLst xmlns:c16r2="http://schemas.microsoft.com/office/drawing/2015/06/chart">
            <c:ext xmlns:c16="http://schemas.microsoft.com/office/drawing/2014/chart" uri="{C3380CC4-5D6E-409C-BE32-E72D297353CC}">
              <c16:uniqueId val="{00000003-B176-498A-953F-01390378D8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229622752"/>
        <c:axId val="225570536"/>
        <c:axId val="0"/>
      </c:bar3DChart>
      <c:catAx>
        <c:axId val="2296227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225570536"/>
        <c:crosses val="autoZero"/>
        <c:auto val="1"/>
        <c:lblAlgn val="ctr"/>
        <c:lblOffset val="100"/>
        <c:noMultiLvlLbl val="0"/>
      </c:catAx>
      <c:valAx>
        <c:axId val="225570536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296227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8.8036901762605299E-2"/>
          <c:y val="0.82619275263617142"/>
          <c:w val="0.88560790543467049"/>
          <c:h val="0.1738072473638285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ysClr val="windowText" lastClr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userShapes r:id="rId4"/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Nafas chiqarish fazasi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2.5462962962962962E-2"/>
          <c:y val="4.7123484564429455E-2"/>
          <c:w val="0.94907407407407407"/>
          <c:h val="0.68642752338738122"/>
        </c:manualLayout>
      </c:layout>
      <c:lineChart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Amaliy sog'lom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0000"/>
              </a:solidFill>
              <a:ln w="9525">
                <a:solidFill>
                  <a:srgbClr val="00B05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PChN(Р1)</c:v>
                </c:pt>
                <c:pt idx="1">
                  <c:v>O'ChN(Р2)</c:v>
                </c:pt>
                <c:pt idx="2">
                  <c:v>YuChN (Р3)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17.600000000000001</c:v>
                </c:pt>
                <c:pt idx="1">
                  <c:v>8.4</c:v>
                </c:pt>
                <c:pt idx="2">
                  <c:v>2.1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2233-4BE5-AD87-02B017FFFE51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I guruh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0000"/>
              </a:solidFill>
              <a:ln w="9525">
                <a:solidFill>
                  <a:srgbClr val="C0000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PChN(Р1)</c:v>
                </c:pt>
                <c:pt idx="1">
                  <c:v>O'ChN(Р2)</c:v>
                </c:pt>
                <c:pt idx="2">
                  <c:v>YuChN (Р3)</c:v>
                </c:pt>
              </c:strCache>
            </c:str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22.1</c:v>
                </c:pt>
                <c:pt idx="1">
                  <c:v>11.5</c:v>
                </c:pt>
                <c:pt idx="2">
                  <c:v>7.9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2233-4BE5-AD87-02B017FFFE51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II guruh BOS II daraja</c:v>
                </c:pt>
              </c:strCache>
            </c:strRef>
          </c:tx>
          <c:spPr>
            <a:ln w="28575" cap="rnd">
              <a:solidFill>
                <a:srgbClr val="FF339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0000"/>
              </a:solidFill>
              <a:ln w="9525">
                <a:solidFill>
                  <a:srgbClr val="FF3399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PChN(Р1)</c:v>
                </c:pt>
                <c:pt idx="1">
                  <c:v>O'ChN(Р2)</c:v>
                </c:pt>
                <c:pt idx="2">
                  <c:v>YuChN (Р3)</c:v>
                </c:pt>
              </c:strCache>
            </c:strRef>
          </c:cat>
          <c:val>
            <c:numRef>
              <c:f>Лист1!$D$2:$D$4</c:f>
              <c:numCache>
                <c:formatCode>General</c:formatCode>
                <c:ptCount val="3"/>
                <c:pt idx="0">
                  <c:v>18.100000000000001</c:v>
                </c:pt>
                <c:pt idx="1">
                  <c:v>9.1999999999999993</c:v>
                </c:pt>
                <c:pt idx="2">
                  <c:v>2.2999999999999998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2-2233-4BE5-AD87-02B017FFFE51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II guruh BOS III daraja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PChN(Р1)</c:v>
                </c:pt>
                <c:pt idx="1">
                  <c:v>O'ChN(Р2)</c:v>
                </c:pt>
                <c:pt idx="2">
                  <c:v>YuChN (Р3)</c:v>
                </c:pt>
              </c:strCache>
            </c:strRef>
          </c:cat>
          <c:val>
            <c:numRef>
              <c:f>Лист1!$E$2:$E$4</c:f>
              <c:numCache>
                <c:formatCode>General</c:formatCode>
                <c:ptCount val="3"/>
                <c:pt idx="0">
                  <c:v>17.899999999999999</c:v>
                </c:pt>
                <c:pt idx="1">
                  <c:v>8</c:v>
                </c:pt>
                <c:pt idx="2">
                  <c:v>2.5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3-2233-4BE5-AD87-02B017FFFE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29622360"/>
        <c:axId val="232090872"/>
      </c:lineChart>
      <c:catAx>
        <c:axId val="2296223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232090872"/>
        <c:crosses val="autoZero"/>
        <c:auto val="1"/>
        <c:lblAlgn val="ctr"/>
        <c:lblOffset val="100"/>
        <c:noMultiLvlLbl val="0"/>
      </c:catAx>
      <c:valAx>
        <c:axId val="232090872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296223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6.7766181583418725E-3"/>
          <c:y val="0.79376909510054439"/>
          <c:w val="0.99322338184165815"/>
          <c:h val="0.2062309048994556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ysClr val="windowText" lastClr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Nafas olish fazasi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3.1589431974120806E-2"/>
          <c:y val="8.1270727561963324E-2"/>
          <c:w val="0.94907407407407407"/>
          <c:h val="0.83906525670552234"/>
        </c:manualLayout>
      </c:layout>
      <c:lineChart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Amaliy sog'lom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0000"/>
              </a:solidFill>
              <a:ln w="9525">
                <a:solidFill>
                  <a:srgbClr val="00B05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PChN (Р1)</c:v>
                </c:pt>
                <c:pt idx="1">
                  <c:v>O'ChN (Р2)</c:v>
                </c:pt>
                <c:pt idx="2">
                  <c:v>YuChN (Р3)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12.2</c:v>
                </c:pt>
                <c:pt idx="1">
                  <c:v>6.6</c:v>
                </c:pt>
                <c:pt idx="2">
                  <c:v>1.5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49C6-45F8-AFF9-2672BD84D68C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I guruh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0000"/>
              </a:solidFill>
              <a:ln w="9525">
                <a:solidFill>
                  <a:srgbClr val="C0000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PChN (Р1)</c:v>
                </c:pt>
                <c:pt idx="1">
                  <c:v>O'ChN (Р2)</c:v>
                </c:pt>
                <c:pt idx="2">
                  <c:v>YuChN (Р3)</c:v>
                </c:pt>
              </c:strCache>
            </c:str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19</c:v>
                </c:pt>
                <c:pt idx="1">
                  <c:v>10.6</c:v>
                </c:pt>
                <c:pt idx="2">
                  <c:v>5.9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49C6-45F8-AFF9-2672BD84D68C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II guruh BOS II daraja</c:v>
                </c:pt>
              </c:strCache>
            </c:strRef>
          </c:tx>
          <c:spPr>
            <a:ln w="28575" cap="rnd">
              <a:solidFill>
                <a:srgbClr val="7030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0000"/>
              </a:solidFill>
              <a:ln w="9525">
                <a:solidFill>
                  <a:srgbClr val="7030A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PChN (Р1)</c:v>
                </c:pt>
                <c:pt idx="1">
                  <c:v>O'ChN (Р2)</c:v>
                </c:pt>
                <c:pt idx="2">
                  <c:v>YuChN (Р3)</c:v>
                </c:pt>
              </c:strCache>
            </c:strRef>
          </c:cat>
          <c:val>
            <c:numRef>
              <c:f>Лист1!$D$2:$D$4</c:f>
              <c:numCache>
                <c:formatCode>General</c:formatCode>
                <c:ptCount val="3"/>
                <c:pt idx="0">
                  <c:v>14.6</c:v>
                </c:pt>
                <c:pt idx="1">
                  <c:v>5.9</c:v>
                </c:pt>
                <c:pt idx="2">
                  <c:v>1.5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2-49C6-45F8-AFF9-2672BD84D68C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II guruh BOS III daraja</c:v>
                </c:pt>
              </c:strCache>
            </c:strRef>
          </c:tx>
          <c:spPr>
            <a:ln w="28575" cap="rnd">
              <a:solidFill>
                <a:srgbClr val="FF339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0000"/>
              </a:solidFill>
              <a:ln w="9525">
                <a:solidFill>
                  <a:srgbClr val="FF3399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PChN (Р1)</c:v>
                </c:pt>
                <c:pt idx="1">
                  <c:v>O'ChN (Р2)</c:v>
                </c:pt>
                <c:pt idx="2">
                  <c:v>YuChN (Р3)</c:v>
                </c:pt>
              </c:strCache>
            </c:strRef>
          </c:cat>
          <c:val>
            <c:numRef>
              <c:f>Лист1!$E$2:$E$4</c:f>
              <c:numCache>
                <c:formatCode>General</c:formatCode>
                <c:ptCount val="3"/>
                <c:pt idx="0">
                  <c:v>14.8</c:v>
                </c:pt>
                <c:pt idx="1">
                  <c:v>6.9</c:v>
                </c:pt>
                <c:pt idx="2">
                  <c:v>2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3-49C6-45F8-AFF9-2672BD84D68C}"/>
            </c:ext>
          </c:extLst>
        </c:ser>
        <c:ser>
          <c:idx val="4"/>
          <c:order val="4"/>
          <c:tx>
            <c:strRef>
              <c:f>Лист1!$F$1</c:f>
              <c:strCache>
                <c:ptCount val="1"/>
                <c:pt idx="0">
                  <c:v>II группа ССД тяж ст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PChN (Р1)</c:v>
                </c:pt>
                <c:pt idx="1">
                  <c:v>O'ChN (Р2)</c:v>
                </c:pt>
                <c:pt idx="2">
                  <c:v>YuChN (Р3)</c:v>
                </c:pt>
              </c:strCache>
            </c:strRef>
          </c:cat>
          <c:val>
            <c:numRef>
              <c:f>Лист1!$F$2:$F$4</c:f>
              <c:numCache>
                <c:formatCode>General</c:formatCode>
                <c:ptCount val="3"/>
                <c:pt idx="0">
                  <c:v>14.9</c:v>
                </c:pt>
                <c:pt idx="1">
                  <c:v>5.9</c:v>
                </c:pt>
                <c:pt idx="2">
                  <c:v>1.99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B238-4CD6-81EC-ECA28AF433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32707272"/>
        <c:axId val="232706096"/>
      </c:lineChart>
      <c:catAx>
        <c:axId val="2327072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232706096"/>
        <c:crosses val="autoZero"/>
        <c:auto val="1"/>
        <c:lblAlgn val="ctr"/>
        <c:lblOffset val="100"/>
        <c:noMultiLvlLbl val="0"/>
      </c:catAx>
      <c:valAx>
        <c:axId val="232706096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327072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userShapes r:id="rId4"/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347129364321342E-2"/>
          <c:y val="0.21113194184060327"/>
          <c:w val="0.95330574127135737"/>
          <c:h val="0.59618701508465277"/>
        </c:manualLayout>
      </c:layout>
      <c:barChart>
        <c:barDir val="col"/>
        <c:grouping val="clustered"/>
        <c:varyColors val="0"/>
        <c:ser>
          <c:idx val="0"/>
          <c:order val="0"/>
          <c:tx>
            <c:v>OOB</c:v>
          </c:tx>
          <c:spPr>
            <a:solidFill>
              <a:srgbClr val="089CA3"/>
            </a:solidFill>
            <a:ln>
              <a:noFill/>
            </a:ln>
            <a:effectLst/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Диаграммы!$A$5:$A$8</c:f>
              <c:strCache>
                <c:ptCount val="4"/>
                <c:pt idx="0">
                  <c:v>Tashxis</c:v>
                </c:pt>
                <c:pt idx="1">
                  <c:v>BOS darajasi</c:v>
                </c:pt>
                <c:pt idx="2">
                  <c:v>Buyurma</c:v>
                </c:pt>
                <c:pt idx="3">
                  <c:v>Terapiya darajasi</c:v>
                </c:pt>
              </c:strCache>
            </c:strRef>
          </c:cat>
          <c:val>
            <c:numRef>
              <c:f>Диаграммы!$B$5:$B$8</c:f>
              <c:numCache>
                <c:formatCode>0.0%</c:formatCode>
                <c:ptCount val="4"/>
                <c:pt idx="0">
                  <c:v>0.92307692307692313</c:v>
                </c:pt>
                <c:pt idx="1">
                  <c:v>0.84615384615384615</c:v>
                </c:pt>
                <c:pt idx="2">
                  <c:v>0.88461538461538458</c:v>
                </c:pt>
                <c:pt idx="3">
                  <c:v>0.92307692307692313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458E-47A7-A4F6-6E2ED9EBB77C}"/>
            </c:ex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  <a:effectLst/>
                </c14:spPr>
              </c14:invertSolidFillFmt>
            </c:ext>
          </c:extLst>
        </c:ser>
        <c:ser>
          <c:idx val="1"/>
          <c:order val="1"/>
          <c:tx>
            <c:v>BL</c:v>
          </c:tx>
          <c:spPr>
            <a:solidFill>
              <a:srgbClr val="FFC000"/>
            </a:solidFill>
            <a:ln>
              <a:noFill/>
            </a:ln>
            <a:effectLst/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Диаграммы!$A$5:$A$8</c:f>
              <c:strCache>
                <c:ptCount val="4"/>
                <c:pt idx="0">
                  <c:v>Tashxis</c:v>
                </c:pt>
                <c:pt idx="1">
                  <c:v>BOS darajasi</c:v>
                </c:pt>
                <c:pt idx="2">
                  <c:v>Buyurma</c:v>
                </c:pt>
                <c:pt idx="3">
                  <c:v>Terapiya darajasi</c:v>
                </c:pt>
              </c:strCache>
            </c:strRef>
          </c:cat>
          <c:val>
            <c:numRef>
              <c:f>Диаграммы!$C$5:$C$8</c:f>
              <c:numCache>
                <c:formatCode>0.0%</c:formatCode>
                <c:ptCount val="4"/>
                <c:pt idx="0">
                  <c:v>0.91304347826086951</c:v>
                </c:pt>
                <c:pt idx="1">
                  <c:v>0.91304347826086951</c:v>
                </c:pt>
                <c:pt idx="2">
                  <c:v>0.95652173913043481</c:v>
                </c:pt>
                <c:pt idx="3">
                  <c:v>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458E-47A7-A4F6-6E2ED9EBB77C}"/>
            </c:ex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  <a:effectLst/>
                </c14:spPr>
              </c14:invertSolidFillFmt>
            </c:ext>
          </c:extLst>
        </c:ser>
        <c:ser>
          <c:idx val="2"/>
          <c:order val="2"/>
          <c:tx>
            <c:v>Barcha bolalar</c:v>
          </c:tx>
          <c:spPr>
            <a:solidFill>
              <a:srgbClr val="7E9632"/>
            </a:solidFill>
            <a:ln>
              <a:noFill/>
            </a:ln>
            <a:effectLst/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Диаграммы!$A$5:$A$8</c:f>
              <c:strCache>
                <c:ptCount val="4"/>
                <c:pt idx="0">
                  <c:v>Tashxis</c:v>
                </c:pt>
                <c:pt idx="1">
                  <c:v>BOS darajasi</c:v>
                </c:pt>
                <c:pt idx="2">
                  <c:v>Buyurma</c:v>
                </c:pt>
                <c:pt idx="3">
                  <c:v>Terapiya darajasi</c:v>
                </c:pt>
              </c:strCache>
            </c:strRef>
          </c:cat>
          <c:val>
            <c:numRef>
              <c:f>Диаграммы!$D$5:$D$8</c:f>
              <c:numCache>
                <c:formatCode>0.0%</c:formatCode>
                <c:ptCount val="4"/>
                <c:pt idx="0">
                  <c:v>0.91836734693877553</c:v>
                </c:pt>
                <c:pt idx="1">
                  <c:v>0.87755102040816324</c:v>
                </c:pt>
                <c:pt idx="2">
                  <c:v>0.91836734693877553</c:v>
                </c:pt>
                <c:pt idx="3">
                  <c:v>0.95918367346938771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458E-47A7-A4F6-6E2ED9EBB77C}"/>
            </c:ex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  <a:effectLst/>
                </c14:spPr>
              </c14:invertSolidFillFmt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232706880"/>
        <c:axId val="232707664"/>
      </c:barChart>
      <c:catAx>
        <c:axId val="2327068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cap="all" spc="120" normalizeH="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232707664"/>
        <c:crosses val="autoZero"/>
        <c:auto val="1"/>
        <c:lblAlgn val="ctr"/>
        <c:lblOffset val="100"/>
        <c:noMultiLvlLbl val="0"/>
      </c:catAx>
      <c:valAx>
        <c:axId val="232707664"/>
        <c:scaling>
          <c:orientation val="minMax"/>
          <c:max val="1"/>
          <c:min val="0"/>
        </c:scaling>
        <c:delete val="1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r>
                  <a:rPr lang="ru-RU" sz="1800"/>
                  <a:t>Mos kelish, %</a:t>
                </a:r>
              </a:p>
            </c:rich>
          </c:tx>
          <c:layout>
            <c:manualLayout>
              <c:xMode val="edge"/>
              <c:yMode val="edge"/>
              <c:x val="3.1836994587710922E-2"/>
              <c:y val="0.31801601722861567"/>
            </c:manualLayout>
          </c:layout>
          <c:overlay val="1"/>
          <c:spPr>
            <a:noFill/>
            <a:ln>
              <a:noFill/>
            </a:ln>
            <a:effectLst/>
          </c:spPr>
        </c:title>
        <c:numFmt formatCode="0.0%" sourceLinked="1"/>
        <c:majorTickMark val="none"/>
        <c:minorTickMark val="none"/>
        <c:tickLblPos val="nextTo"/>
        <c:crossAx val="2327068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3466463778942629"/>
          <c:y val="0.89947089947089942"/>
          <c:w val="0.29034386461004702"/>
          <c:h val="7.853345254920057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zero"/>
    <c:showDLblsOverMax val="1"/>
  </c:chart>
  <c:spPr>
    <a:solidFill>
      <a:schemeClr val="lt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920F11D-1144-4B97-A40F-35AAA55EC1D5}" type="doc">
      <dgm:prSet loTypeId="urn:microsoft.com/office/officeart/2005/8/layout/hierarchy1" loCatId="hierarchy" qsTypeId="urn:microsoft.com/office/officeart/2005/8/quickstyle/3d4" qsCatId="3D" csTypeId="urn:microsoft.com/office/officeart/2005/8/colors/colorful3" csCatId="colorful" phldr="1"/>
      <dgm:spPr/>
      <dgm:t>
        <a:bodyPr/>
        <a:lstStyle/>
        <a:p>
          <a:endParaRPr lang="ru-RU"/>
        </a:p>
      </dgm:t>
    </dgm:pt>
    <dgm:pt modelId="{93AA0F30-BA89-4E37-9B55-7E6B6849612C}">
      <dgm:prSet phldrT="[Текст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ru-RU" sz="1600" b="1" dirty="0">
              <a:latin typeface="Times New Roman" pitchFamily="18" charset="0"/>
              <a:cs typeface="Times New Roman" pitchFamily="18" charset="0"/>
            </a:rPr>
            <a:t>Jami tekshirilgan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ru-RU" sz="1600" b="1" dirty="0">
              <a:latin typeface="Times New Roman" pitchFamily="18" charset="0"/>
              <a:cs typeface="Times New Roman" pitchFamily="18" charset="0"/>
            </a:rPr>
            <a:t>150 bola 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ru-RU" sz="1600" b="1" dirty="0">
              <a:latin typeface="Times New Roman" pitchFamily="18" charset="0"/>
              <a:cs typeface="Times New Roman" pitchFamily="18" charset="0"/>
            </a:rPr>
            <a:t>1 dan 3 yoshgacha</a:t>
          </a:r>
        </a:p>
      </dgm:t>
    </dgm:pt>
    <dgm:pt modelId="{D33195D4-25A6-4123-AE49-C26744C6D82A}" type="parTrans" cxnId="{D8A312DB-7A4C-49BC-A68B-6BC51D685EC6}">
      <dgm:prSet/>
      <dgm:spPr/>
      <dgm:t>
        <a:bodyPr/>
        <a:lstStyle/>
        <a:p>
          <a:endParaRPr lang="ru-RU">
            <a:solidFill>
              <a:schemeClr val="accent1">
                <a:lumMod val="75000"/>
              </a:schemeClr>
            </a:solidFill>
          </a:endParaRPr>
        </a:p>
      </dgm:t>
    </dgm:pt>
    <dgm:pt modelId="{435CC3E9-A6D2-4BE2-BA92-09B17C32F25C}" type="sibTrans" cxnId="{D8A312DB-7A4C-49BC-A68B-6BC51D685EC6}">
      <dgm:prSet/>
      <dgm:spPr/>
      <dgm:t>
        <a:bodyPr/>
        <a:lstStyle/>
        <a:p>
          <a:endParaRPr lang="ru-RU">
            <a:solidFill>
              <a:schemeClr val="accent1">
                <a:lumMod val="75000"/>
              </a:schemeClr>
            </a:solidFill>
          </a:endParaRPr>
        </a:p>
      </dgm:t>
    </dgm:pt>
    <dgm:pt modelId="{CBC4737A-57D8-4BC9-90F2-D9CC2CA6CC12}">
      <dgm:prSet phldrT="[Текст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ru-RU" sz="1600" b="1" dirty="0">
              <a:latin typeface="Times New Roman" pitchFamily="18" charset="0"/>
              <a:cs typeface="Times New Roman" pitchFamily="18" charset="0"/>
            </a:rPr>
            <a:t>60 </a:t>
          </a:r>
          <a:r>
            <a:rPr lang="ru-RU" sz="1600" b="1" dirty="0" err="1">
              <a:latin typeface="Times New Roman" pitchFamily="18" charset="0"/>
              <a:cs typeface="Times New Roman" pitchFamily="18" charset="0"/>
            </a:rPr>
            <a:t>nafar</a:t>
          </a:r>
          <a:r>
            <a:rPr lang="ru-RU" sz="1600" b="1" dirty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1600" b="1" dirty="0">
              <a:latin typeface="Times New Roman" pitchFamily="18" charset="0"/>
              <a:cs typeface="Times New Roman" pitchFamily="18" charset="0"/>
            </a:rPr>
            <a:t>o'</a:t>
          </a:r>
          <a:r>
            <a:rPr lang="ru-RU" sz="1600" b="1" dirty="0" err="1">
              <a:latin typeface="Times New Roman" pitchFamily="18" charset="0"/>
              <a:cs typeface="Times New Roman" pitchFamily="18" charset="0"/>
            </a:rPr>
            <a:t>tkir</a:t>
          </a:r>
          <a:r>
            <a:rPr lang="ru-RU" sz="1600" b="1" dirty="0">
              <a:latin typeface="Times New Roman" pitchFamily="18" charset="0"/>
              <a:cs typeface="Times New Roman" pitchFamily="18" charset="0"/>
            </a:rPr>
            <a:t> obstruktiv bronxitli bemor</a:t>
          </a:r>
        </a:p>
      </dgm:t>
    </dgm:pt>
    <dgm:pt modelId="{0D4A62DE-D156-41AA-932B-F6DD79B71CC6}" type="parTrans" cxnId="{621033EC-0B3F-4DE5-9637-3C8D904E7305}">
      <dgm:prSet/>
      <dgm:spPr/>
      <dgm:t>
        <a:bodyPr/>
        <a:lstStyle/>
        <a:p>
          <a:endParaRPr lang="ru-RU">
            <a:solidFill>
              <a:schemeClr val="accent1">
                <a:lumMod val="75000"/>
              </a:schemeClr>
            </a:solidFill>
          </a:endParaRPr>
        </a:p>
      </dgm:t>
    </dgm:pt>
    <dgm:pt modelId="{684384FD-0C98-4583-A4F4-CA4C2712E08D}" type="sibTrans" cxnId="{621033EC-0B3F-4DE5-9637-3C8D904E7305}">
      <dgm:prSet/>
      <dgm:spPr/>
      <dgm:t>
        <a:bodyPr/>
        <a:lstStyle/>
        <a:p>
          <a:endParaRPr lang="ru-RU">
            <a:solidFill>
              <a:schemeClr val="accent1">
                <a:lumMod val="75000"/>
              </a:schemeClr>
            </a:solidFill>
          </a:endParaRPr>
        </a:p>
      </dgm:t>
    </dgm:pt>
    <dgm:pt modelId="{78EE4A90-BC45-42C4-8A9A-EDDAD3FF8F5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ru-RU" sz="1600" b="1" dirty="0">
              <a:latin typeface="Times New Roman" pitchFamily="18" charset="0"/>
              <a:cs typeface="Times New Roman" pitchFamily="18" charset="0"/>
            </a:rPr>
            <a:t>60 </a:t>
          </a:r>
          <a:r>
            <a:rPr lang="ru-RU" sz="1600" b="1" dirty="0" err="1">
              <a:latin typeface="Times New Roman" pitchFamily="18" charset="0"/>
              <a:cs typeface="Times New Roman" pitchFamily="18" charset="0"/>
            </a:rPr>
            <a:t>nafar</a:t>
          </a:r>
          <a:r>
            <a:rPr lang="ru-RU" sz="1600" b="1" dirty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1600" b="1" dirty="0">
              <a:latin typeface="Times New Roman" pitchFamily="18" charset="0"/>
              <a:cs typeface="Times New Roman" pitchFamily="18" charset="0"/>
            </a:rPr>
            <a:t>o'</a:t>
          </a:r>
          <a:r>
            <a:rPr lang="ru-RU" sz="1600" b="1" dirty="0" err="1">
              <a:latin typeface="Times New Roman" pitchFamily="18" charset="0"/>
              <a:cs typeface="Times New Roman" pitchFamily="18" charset="0"/>
            </a:rPr>
            <a:t>tkir</a:t>
          </a:r>
          <a:r>
            <a:rPr lang="ru-RU" sz="1600" b="1" dirty="0">
              <a:latin typeface="Times New Roman" pitchFamily="18" charset="0"/>
              <a:cs typeface="Times New Roman" pitchFamily="18" charset="0"/>
            </a:rPr>
            <a:t> bronxiolitli bemor</a:t>
          </a:r>
          <a:endParaRPr lang="uz-Cyrl-UZ" sz="16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4C1F4F5-3D3C-44AB-A017-5A77EAACD881}" type="sibTrans" cxnId="{F7DA20DC-2063-473A-ACA1-69FBBBB27F3C}">
      <dgm:prSet/>
      <dgm:spPr/>
      <dgm:t>
        <a:bodyPr/>
        <a:lstStyle/>
        <a:p>
          <a:endParaRPr lang="uz-Cyrl-UZ">
            <a:solidFill>
              <a:schemeClr val="accent1">
                <a:lumMod val="75000"/>
              </a:schemeClr>
            </a:solidFill>
          </a:endParaRPr>
        </a:p>
      </dgm:t>
    </dgm:pt>
    <dgm:pt modelId="{1DA5D021-EC3D-44E3-8ECE-31BAA8BE19AB}" type="parTrans" cxnId="{F7DA20DC-2063-473A-ACA1-69FBBBB27F3C}">
      <dgm:prSet/>
      <dgm:spPr/>
      <dgm:t>
        <a:bodyPr/>
        <a:lstStyle/>
        <a:p>
          <a:endParaRPr lang="uz-Cyrl-UZ">
            <a:solidFill>
              <a:schemeClr val="accent1">
                <a:lumMod val="75000"/>
              </a:schemeClr>
            </a:solidFill>
          </a:endParaRPr>
        </a:p>
      </dgm:t>
    </dgm:pt>
    <dgm:pt modelId="{11A50D1B-9670-42C8-AF8A-DB4A5CFB7AFA}">
      <dgm:prSet phldrT="[Текст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ru-RU" sz="1600" b="1" dirty="0">
              <a:latin typeface="Times New Roman" pitchFamily="18" charset="0"/>
              <a:cs typeface="Times New Roman" pitchFamily="18" charset="0"/>
            </a:rPr>
            <a:t>Qiyoslash guruhi – </a:t>
          </a:r>
          <a:r>
            <a:rPr lang="en-US" sz="1600" b="1" dirty="0">
              <a:latin typeface="Times New Roman" pitchFamily="18" charset="0"/>
              <a:cs typeface="Times New Roman" pitchFamily="18" charset="0"/>
            </a:rPr>
            <a:t>o'</a:t>
          </a:r>
          <a:r>
            <a:rPr lang="ru-RU" sz="1600" b="1" dirty="0" err="1">
              <a:latin typeface="Times New Roman" pitchFamily="18" charset="0"/>
              <a:cs typeface="Times New Roman" pitchFamily="18" charset="0"/>
            </a:rPr>
            <a:t>tkir</a:t>
          </a:r>
          <a:r>
            <a:rPr lang="ru-RU" sz="1600" b="1" dirty="0">
              <a:latin typeface="Times New Roman" pitchFamily="18" charset="0"/>
              <a:cs typeface="Times New Roman" pitchFamily="18" charset="0"/>
            </a:rPr>
            <a:t> bronxitli 30 bola</a:t>
          </a:r>
        </a:p>
      </dgm:t>
    </dgm:pt>
    <dgm:pt modelId="{F1DE2421-16FD-4412-89BB-4BF73B6D4147}" type="sibTrans" cxnId="{CD382266-2617-4E23-8FFD-F97FF79F18AD}">
      <dgm:prSet/>
      <dgm:spPr/>
      <dgm:t>
        <a:bodyPr/>
        <a:lstStyle/>
        <a:p>
          <a:endParaRPr lang="ru-RU">
            <a:solidFill>
              <a:schemeClr val="accent1">
                <a:lumMod val="75000"/>
              </a:schemeClr>
            </a:solidFill>
          </a:endParaRPr>
        </a:p>
      </dgm:t>
    </dgm:pt>
    <dgm:pt modelId="{1747261C-C4E5-4505-A188-0B4898B95252}" type="parTrans" cxnId="{CD382266-2617-4E23-8FFD-F97FF79F18AD}">
      <dgm:prSet/>
      <dgm:spPr/>
      <dgm:t>
        <a:bodyPr/>
        <a:lstStyle/>
        <a:p>
          <a:endParaRPr lang="ru-RU">
            <a:solidFill>
              <a:schemeClr val="accent1">
                <a:lumMod val="75000"/>
              </a:schemeClr>
            </a:solidFill>
          </a:endParaRPr>
        </a:p>
      </dgm:t>
    </dgm:pt>
    <dgm:pt modelId="{E21B0493-62B1-4586-8606-29AB0F8C9CB0}">
      <dgm:prSet phldrT="[Текст]" custT="1"/>
      <dgm:spPr/>
      <dgm:t>
        <a:bodyPr/>
        <a:lstStyle/>
        <a:p>
          <a:r>
            <a:rPr lang="ru-RU" sz="1600" b="1" dirty="0">
              <a:latin typeface="Times New Roman" pitchFamily="18" charset="0"/>
              <a:cs typeface="Times New Roman" pitchFamily="18" charset="0"/>
            </a:rPr>
            <a:t>Nazorat guruhi – amaliy sogʼlom 30 bola</a:t>
          </a:r>
        </a:p>
      </dgm:t>
    </dgm:pt>
    <dgm:pt modelId="{0453F696-64F7-4FCD-B769-84299C18D586}" type="parTrans" cxnId="{8D7000CE-5260-4B5E-AE28-CFCCFD7DA238}">
      <dgm:prSet/>
      <dgm:spPr/>
      <dgm:t>
        <a:bodyPr/>
        <a:lstStyle/>
        <a:p>
          <a:endParaRPr lang="ru-RU"/>
        </a:p>
      </dgm:t>
    </dgm:pt>
    <dgm:pt modelId="{C0BC6C68-1647-4381-9927-81C900CEDF5A}" type="sibTrans" cxnId="{8D7000CE-5260-4B5E-AE28-CFCCFD7DA238}">
      <dgm:prSet/>
      <dgm:spPr/>
      <dgm:t>
        <a:bodyPr/>
        <a:lstStyle/>
        <a:p>
          <a:endParaRPr lang="ru-RU"/>
        </a:p>
      </dgm:t>
    </dgm:pt>
    <dgm:pt modelId="{BFBF1184-5014-47A6-AA92-AAADAF7ABE55}" type="pres">
      <dgm:prSet presAssocID="{7920F11D-1144-4B97-A40F-35AAA55EC1D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F669D67D-0706-47B8-993C-E33FEABFA214}" type="pres">
      <dgm:prSet presAssocID="{93AA0F30-BA89-4E37-9B55-7E6B6849612C}" presName="hierRoot1" presStyleCnt="0"/>
      <dgm:spPr/>
    </dgm:pt>
    <dgm:pt modelId="{7E4B0499-4331-4BC6-B8C6-030DF2F11785}" type="pres">
      <dgm:prSet presAssocID="{93AA0F30-BA89-4E37-9B55-7E6B6849612C}" presName="composite" presStyleCnt="0"/>
      <dgm:spPr/>
    </dgm:pt>
    <dgm:pt modelId="{4C0606A5-E0C7-430B-A42C-3E52C98A29A1}" type="pres">
      <dgm:prSet presAssocID="{93AA0F30-BA89-4E37-9B55-7E6B6849612C}" presName="background" presStyleLbl="node0" presStyleIdx="0" presStyleCnt="2"/>
      <dgm:spPr/>
    </dgm:pt>
    <dgm:pt modelId="{4361A600-4A75-4D0F-A248-417410710331}" type="pres">
      <dgm:prSet presAssocID="{93AA0F30-BA89-4E37-9B55-7E6B6849612C}" presName="text" presStyleLbl="fgAcc0" presStyleIdx="0" presStyleCnt="2" custScaleX="184044" custScaleY="90598" custLinFactNeighborX="-6155" custLinFactNeighborY="-3213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B1CCBE9D-8698-42F6-BE76-738D36B61A0F}" type="pres">
      <dgm:prSet presAssocID="{93AA0F30-BA89-4E37-9B55-7E6B6849612C}" presName="hierChild2" presStyleCnt="0"/>
      <dgm:spPr/>
    </dgm:pt>
    <dgm:pt modelId="{C972F936-7A07-483E-9441-E922840A9573}" type="pres">
      <dgm:prSet presAssocID="{0D4A62DE-D156-41AA-932B-F6DD79B71CC6}" presName="Name10" presStyleLbl="parChTrans1D2" presStyleIdx="0" presStyleCnt="3"/>
      <dgm:spPr/>
      <dgm:t>
        <a:bodyPr/>
        <a:lstStyle/>
        <a:p>
          <a:endParaRPr lang="ru-RU"/>
        </a:p>
      </dgm:t>
    </dgm:pt>
    <dgm:pt modelId="{8021621E-BD51-4346-BA85-C5B9506F6BED}" type="pres">
      <dgm:prSet presAssocID="{CBC4737A-57D8-4BC9-90F2-D9CC2CA6CC12}" presName="hierRoot2" presStyleCnt="0"/>
      <dgm:spPr/>
    </dgm:pt>
    <dgm:pt modelId="{FCEF03AF-3B40-4F5E-824C-A6DB5871C7EF}" type="pres">
      <dgm:prSet presAssocID="{CBC4737A-57D8-4BC9-90F2-D9CC2CA6CC12}" presName="composite2" presStyleCnt="0"/>
      <dgm:spPr/>
    </dgm:pt>
    <dgm:pt modelId="{B570C9B2-E362-43F5-89EF-9080F4228BE7}" type="pres">
      <dgm:prSet presAssocID="{CBC4737A-57D8-4BC9-90F2-D9CC2CA6CC12}" presName="background2" presStyleLbl="node2" presStyleIdx="0" presStyleCnt="3"/>
      <dgm:spPr/>
    </dgm:pt>
    <dgm:pt modelId="{BF2E95E1-41AA-414E-BA52-8BFB156D5AAC}" type="pres">
      <dgm:prSet presAssocID="{CBC4737A-57D8-4BC9-90F2-D9CC2CA6CC12}" presName="text2" presStyleLbl="fgAcc2" presStyleIdx="0" presStyleCnt="3" custScaleX="155119" custScaleY="81201" custLinFactNeighborX="-5932" custLinFactNeighborY="10324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356A79F8-EB17-476E-ABCE-BEFB578E96E5}" type="pres">
      <dgm:prSet presAssocID="{CBC4737A-57D8-4BC9-90F2-D9CC2CA6CC12}" presName="hierChild3" presStyleCnt="0"/>
      <dgm:spPr/>
    </dgm:pt>
    <dgm:pt modelId="{2FDB0361-751B-448C-88E2-E64573E5E9AF}" type="pres">
      <dgm:prSet presAssocID="{1DA5D021-EC3D-44E3-8ECE-31BAA8BE19AB}" presName="Name10" presStyleLbl="parChTrans1D2" presStyleIdx="1" presStyleCnt="3"/>
      <dgm:spPr/>
      <dgm:t>
        <a:bodyPr/>
        <a:lstStyle/>
        <a:p>
          <a:endParaRPr lang="ru-RU"/>
        </a:p>
      </dgm:t>
    </dgm:pt>
    <dgm:pt modelId="{1C99CA7B-61B1-49AE-B11A-B4F5168D0956}" type="pres">
      <dgm:prSet presAssocID="{78EE4A90-BC45-42C4-8A9A-EDDAD3FF8F53}" presName="hierRoot2" presStyleCnt="0"/>
      <dgm:spPr/>
    </dgm:pt>
    <dgm:pt modelId="{D2DC96AB-CD05-488F-801E-F27FD896DBEE}" type="pres">
      <dgm:prSet presAssocID="{78EE4A90-BC45-42C4-8A9A-EDDAD3FF8F53}" presName="composite2" presStyleCnt="0"/>
      <dgm:spPr/>
    </dgm:pt>
    <dgm:pt modelId="{A4390371-14E8-4AB2-9A04-50FDEE118E71}" type="pres">
      <dgm:prSet presAssocID="{78EE4A90-BC45-42C4-8A9A-EDDAD3FF8F53}" presName="background2" presStyleLbl="node2" presStyleIdx="1" presStyleCnt="3"/>
      <dgm:spPr/>
    </dgm:pt>
    <dgm:pt modelId="{A607B827-74D7-4598-A7B7-02FC00655E10}" type="pres">
      <dgm:prSet presAssocID="{78EE4A90-BC45-42C4-8A9A-EDDAD3FF8F53}" presName="text2" presStyleLbl="fgAcc2" presStyleIdx="1" presStyleCnt="3" custScaleX="166584" custScaleY="83678" custLinFactNeighborX="11995" custLinFactNeighborY="10437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0A7EE7AA-218C-491E-8985-6F22C74D527A}" type="pres">
      <dgm:prSet presAssocID="{78EE4A90-BC45-42C4-8A9A-EDDAD3FF8F53}" presName="hierChild3" presStyleCnt="0"/>
      <dgm:spPr/>
    </dgm:pt>
    <dgm:pt modelId="{D0B9A811-BA43-47DA-BC17-3528FCA3EA5A}" type="pres">
      <dgm:prSet presAssocID="{1747261C-C4E5-4505-A188-0B4898B95252}" presName="Name10" presStyleLbl="parChTrans1D2" presStyleIdx="2" presStyleCnt="3"/>
      <dgm:spPr/>
      <dgm:t>
        <a:bodyPr/>
        <a:lstStyle/>
        <a:p>
          <a:endParaRPr lang="ru-RU"/>
        </a:p>
      </dgm:t>
    </dgm:pt>
    <dgm:pt modelId="{A8C972EA-7772-42C1-AAC9-DC2FF07093C2}" type="pres">
      <dgm:prSet presAssocID="{11A50D1B-9670-42C8-AF8A-DB4A5CFB7AFA}" presName="hierRoot2" presStyleCnt="0"/>
      <dgm:spPr/>
    </dgm:pt>
    <dgm:pt modelId="{0226A3C6-98AB-4E17-B982-6A44923F406E}" type="pres">
      <dgm:prSet presAssocID="{11A50D1B-9670-42C8-AF8A-DB4A5CFB7AFA}" presName="composite2" presStyleCnt="0"/>
      <dgm:spPr/>
    </dgm:pt>
    <dgm:pt modelId="{72F42FA9-A153-4CF2-8208-029461843931}" type="pres">
      <dgm:prSet presAssocID="{11A50D1B-9670-42C8-AF8A-DB4A5CFB7AFA}" presName="background2" presStyleLbl="node2" presStyleIdx="2" presStyleCnt="3"/>
      <dgm:spPr/>
    </dgm:pt>
    <dgm:pt modelId="{78D339C2-27AE-45B9-BF91-EEB3B53230B5}" type="pres">
      <dgm:prSet presAssocID="{11A50D1B-9670-42C8-AF8A-DB4A5CFB7AFA}" presName="text2" presStyleLbl="fgAcc2" presStyleIdx="2" presStyleCnt="3" custScaleX="164284" custScaleY="89514" custLinFactNeighborX="55402" custLinFactNeighborY="1254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AE2EE114-3443-4C04-A662-26939252830D}" type="pres">
      <dgm:prSet presAssocID="{11A50D1B-9670-42C8-AF8A-DB4A5CFB7AFA}" presName="hierChild3" presStyleCnt="0"/>
      <dgm:spPr/>
    </dgm:pt>
    <dgm:pt modelId="{A41DB81E-D42F-405E-94B3-6C81CA46A64A}" type="pres">
      <dgm:prSet presAssocID="{E21B0493-62B1-4586-8606-29AB0F8C9CB0}" presName="hierRoot1" presStyleCnt="0"/>
      <dgm:spPr/>
    </dgm:pt>
    <dgm:pt modelId="{AA858A91-28AC-47F8-AC02-0BE1E1B28113}" type="pres">
      <dgm:prSet presAssocID="{E21B0493-62B1-4586-8606-29AB0F8C9CB0}" presName="composite" presStyleCnt="0"/>
      <dgm:spPr/>
    </dgm:pt>
    <dgm:pt modelId="{1459312F-6644-467E-883F-B256B32B43B6}" type="pres">
      <dgm:prSet presAssocID="{E21B0493-62B1-4586-8606-29AB0F8C9CB0}" presName="background" presStyleLbl="node0" presStyleIdx="1" presStyleCnt="2"/>
      <dgm:spPr>
        <a:solidFill>
          <a:schemeClr val="bg2">
            <a:lumMod val="50000"/>
          </a:schemeClr>
        </a:solidFill>
      </dgm:spPr>
    </dgm:pt>
    <dgm:pt modelId="{04EB7F82-7B0D-4B28-B9F1-A4F81505BB6F}" type="pres">
      <dgm:prSet presAssocID="{E21B0493-62B1-4586-8606-29AB0F8C9CB0}" presName="text" presStyleLbl="fgAcc0" presStyleIdx="1" presStyleCnt="2" custScaleX="262315" custScaleY="72531" custLinFactX="-100000" custLinFactY="104883" custLinFactNeighborX="-129269" custLinFactNeighborY="20000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BF42E2AD-B672-4295-AB08-498B28B6C0CB}" type="pres">
      <dgm:prSet presAssocID="{E21B0493-62B1-4586-8606-29AB0F8C9CB0}" presName="hierChild2" presStyleCnt="0"/>
      <dgm:spPr/>
    </dgm:pt>
  </dgm:ptLst>
  <dgm:cxnLst>
    <dgm:cxn modelId="{917B3381-8631-4022-9852-00CB7FA961BA}" type="presOf" srcId="{1747261C-C4E5-4505-A188-0B4898B95252}" destId="{D0B9A811-BA43-47DA-BC17-3528FCA3EA5A}" srcOrd="0" destOrd="0" presId="urn:microsoft.com/office/officeart/2005/8/layout/hierarchy1"/>
    <dgm:cxn modelId="{F0A39443-C31F-47D2-839C-703556336F52}" type="presOf" srcId="{CBC4737A-57D8-4BC9-90F2-D9CC2CA6CC12}" destId="{BF2E95E1-41AA-414E-BA52-8BFB156D5AAC}" srcOrd="0" destOrd="0" presId="urn:microsoft.com/office/officeart/2005/8/layout/hierarchy1"/>
    <dgm:cxn modelId="{D8A312DB-7A4C-49BC-A68B-6BC51D685EC6}" srcId="{7920F11D-1144-4B97-A40F-35AAA55EC1D5}" destId="{93AA0F30-BA89-4E37-9B55-7E6B6849612C}" srcOrd="0" destOrd="0" parTransId="{D33195D4-25A6-4123-AE49-C26744C6D82A}" sibTransId="{435CC3E9-A6D2-4BE2-BA92-09B17C32F25C}"/>
    <dgm:cxn modelId="{621033EC-0B3F-4DE5-9637-3C8D904E7305}" srcId="{93AA0F30-BA89-4E37-9B55-7E6B6849612C}" destId="{CBC4737A-57D8-4BC9-90F2-D9CC2CA6CC12}" srcOrd="0" destOrd="0" parTransId="{0D4A62DE-D156-41AA-932B-F6DD79B71CC6}" sibTransId="{684384FD-0C98-4583-A4F4-CA4C2712E08D}"/>
    <dgm:cxn modelId="{9C2E5667-13A9-4261-AB2B-E9B9236B8B6F}" type="presOf" srcId="{E21B0493-62B1-4586-8606-29AB0F8C9CB0}" destId="{04EB7F82-7B0D-4B28-B9F1-A4F81505BB6F}" srcOrd="0" destOrd="0" presId="urn:microsoft.com/office/officeart/2005/8/layout/hierarchy1"/>
    <dgm:cxn modelId="{74A2E34B-EFDE-4AC1-A960-714E26B25BB0}" type="presOf" srcId="{78EE4A90-BC45-42C4-8A9A-EDDAD3FF8F53}" destId="{A607B827-74D7-4598-A7B7-02FC00655E10}" srcOrd="0" destOrd="0" presId="urn:microsoft.com/office/officeart/2005/8/layout/hierarchy1"/>
    <dgm:cxn modelId="{F2A432F8-4128-4D70-88EC-2EA0649FB0E9}" type="presOf" srcId="{93AA0F30-BA89-4E37-9B55-7E6B6849612C}" destId="{4361A600-4A75-4D0F-A248-417410710331}" srcOrd="0" destOrd="0" presId="urn:microsoft.com/office/officeart/2005/8/layout/hierarchy1"/>
    <dgm:cxn modelId="{926231DD-2B2A-46C1-8962-7A61011D90D3}" type="presOf" srcId="{11A50D1B-9670-42C8-AF8A-DB4A5CFB7AFA}" destId="{78D339C2-27AE-45B9-BF91-EEB3B53230B5}" srcOrd="0" destOrd="0" presId="urn:microsoft.com/office/officeart/2005/8/layout/hierarchy1"/>
    <dgm:cxn modelId="{CD382266-2617-4E23-8FFD-F97FF79F18AD}" srcId="{93AA0F30-BA89-4E37-9B55-7E6B6849612C}" destId="{11A50D1B-9670-42C8-AF8A-DB4A5CFB7AFA}" srcOrd="2" destOrd="0" parTransId="{1747261C-C4E5-4505-A188-0B4898B95252}" sibTransId="{F1DE2421-16FD-4412-89BB-4BF73B6D4147}"/>
    <dgm:cxn modelId="{1F79E685-EDB4-4607-81D0-577789AECA88}" type="presOf" srcId="{0D4A62DE-D156-41AA-932B-F6DD79B71CC6}" destId="{C972F936-7A07-483E-9441-E922840A9573}" srcOrd="0" destOrd="0" presId="urn:microsoft.com/office/officeart/2005/8/layout/hierarchy1"/>
    <dgm:cxn modelId="{A055A20D-7D0E-465C-969F-B308E48856F4}" type="presOf" srcId="{1DA5D021-EC3D-44E3-8ECE-31BAA8BE19AB}" destId="{2FDB0361-751B-448C-88E2-E64573E5E9AF}" srcOrd="0" destOrd="0" presId="urn:microsoft.com/office/officeart/2005/8/layout/hierarchy1"/>
    <dgm:cxn modelId="{F7DA20DC-2063-473A-ACA1-69FBBBB27F3C}" srcId="{93AA0F30-BA89-4E37-9B55-7E6B6849612C}" destId="{78EE4A90-BC45-42C4-8A9A-EDDAD3FF8F53}" srcOrd="1" destOrd="0" parTransId="{1DA5D021-EC3D-44E3-8ECE-31BAA8BE19AB}" sibTransId="{D4C1F4F5-3D3C-44AB-A017-5A77EAACD881}"/>
    <dgm:cxn modelId="{351FD045-B8E6-4A63-A240-A868FA1EE8CC}" type="presOf" srcId="{7920F11D-1144-4B97-A40F-35AAA55EC1D5}" destId="{BFBF1184-5014-47A6-AA92-AAADAF7ABE55}" srcOrd="0" destOrd="0" presId="urn:microsoft.com/office/officeart/2005/8/layout/hierarchy1"/>
    <dgm:cxn modelId="{8D7000CE-5260-4B5E-AE28-CFCCFD7DA238}" srcId="{7920F11D-1144-4B97-A40F-35AAA55EC1D5}" destId="{E21B0493-62B1-4586-8606-29AB0F8C9CB0}" srcOrd="1" destOrd="0" parTransId="{0453F696-64F7-4FCD-B769-84299C18D586}" sibTransId="{C0BC6C68-1647-4381-9927-81C900CEDF5A}"/>
    <dgm:cxn modelId="{C82BFDAB-2997-4325-8963-1E277A96BF5D}" type="presParOf" srcId="{BFBF1184-5014-47A6-AA92-AAADAF7ABE55}" destId="{F669D67D-0706-47B8-993C-E33FEABFA214}" srcOrd="0" destOrd="0" presId="urn:microsoft.com/office/officeart/2005/8/layout/hierarchy1"/>
    <dgm:cxn modelId="{E1927675-5EED-4B22-999A-7945A3206274}" type="presParOf" srcId="{F669D67D-0706-47B8-993C-E33FEABFA214}" destId="{7E4B0499-4331-4BC6-B8C6-030DF2F11785}" srcOrd="0" destOrd="0" presId="urn:microsoft.com/office/officeart/2005/8/layout/hierarchy1"/>
    <dgm:cxn modelId="{585676E9-A9CA-42BB-AF1A-D4B4E578FE12}" type="presParOf" srcId="{7E4B0499-4331-4BC6-B8C6-030DF2F11785}" destId="{4C0606A5-E0C7-430B-A42C-3E52C98A29A1}" srcOrd="0" destOrd="0" presId="urn:microsoft.com/office/officeart/2005/8/layout/hierarchy1"/>
    <dgm:cxn modelId="{9FA6C7C1-D2D9-49E5-9FFC-CD30655CB833}" type="presParOf" srcId="{7E4B0499-4331-4BC6-B8C6-030DF2F11785}" destId="{4361A600-4A75-4D0F-A248-417410710331}" srcOrd="1" destOrd="0" presId="urn:microsoft.com/office/officeart/2005/8/layout/hierarchy1"/>
    <dgm:cxn modelId="{0640B220-C3EC-48E3-A630-E1B6764FD200}" type="presParOf" srcId="{F669D67D-0706-47B8-993C-E33FEABFA214}" destId="{B1CCBE9D-8698-42F6-BE76-738D36B61A0F}" srcOrd="1" destOrd="0" presId="urn:microsoft.com/office/officeart/2005/8/layout/hierarchy1"/>
    <dgm:cxn modelId="{BDEFBE49-1862-478C-A2FF-FF01BB5777E8}" type="presParOf" srcId="{B1CCBE9D-8698-42F6-BE76-738D36B61A0F}" destId="{C972F936-7A07-483E-9441-E922840A9573}" srcOrd="0" destOrd="0" presId="urn:microsoft.com/office/officeart/2005/8/layout/hierarchy1"/>
    <dgm:cxn modelId="{69D83496-B644-488A-A7EB-1A4B742C144E}" type="presParOf" srcId="{B1CCBE9D-8698-42F6-BE76-738D36B61A0F}" destId="{8021621E-BD51-4346-BA85-C5B9506F6BED}" srcOrd="1" destOrd="0" presId="urn:microsoft.com/office/officeart/2005/8/layout/hierarchy1"/>
    <dgm:cxn modelId="{B11DF666-F573-41C6-9106-BAEFBADCA12C}" type="presParOf" srcId="{8021621E-BD51-4346-BA85-C5B9506F6BED}" destId="{FCEF03AF-3B40-4F5E-824C-A6DB5871C7EF}" srcOrd="0" destOrd="0" presId="urn:microsoft.com/office/officeart/2005/8/layout/hierarchy1"/>
    <dgm:cxn modelId="{49B14844-E3F8-45A2-A29A-63F83C604BAE}" type="presParOf" srcId="{FCEF03AF-3B40-4F5E-824C-A6DB5871C7EF}" destId="{B570C9B2-E362-43F5-89EF-9080F4228BE7}" srcOrd="0" destOrd="0" presId="urn:microsoft.com/office/officeart/2005/8/layout/hierarchy1"/>
    <dgm:cxn modelId="{43B325AB-40F0-4680-88CC-8C3C9F75BB61}" type="presParOf" srcId="{FCEF03AF-3B40-4F5E-824C-A6DB5871C7EF}" destId="{BF2E95E1-41AA-414E-BA52-8BFB156D5AAC}" srcOrd="1" destOrd="0" presId="urn:microsoft.com/office/officeart/2005/8/layout/hierarchy1"/>
    <dgm:cxn modelId="{CBDDDEA3-D2B0-4A99-8034-913CEAB0F54D}" type="presParOf" srcId="{8021621E-BD51-4346-BA85-C5B9506F6BED}" destId="{356A79F8-EB17-476E-ABCE-BEFB578E96E5}" srcOrd="1" destOrd="0" presId="urn:microsoft.com/office/officeart/2005/8/layout/hierarchy1"/>
    <dgm:cxn modelId="{0C921A5B-D903-4DAC-92F1-D6CE23E5563D}" type="presParOf" srcId="{B1CCBE9D-8698-42F6-BE76-738D36B61A0F}" destId="{2FDB0361-751B-448C-88E2-E64573E5E9AF}" srcOrd="2" destOrd="0" presId="urn:microsoft.com/office/officeart/2005/8/layout/hierarchy1"/>
    <dgm:cxn modelId="{EFFBA05A-175F-48DF-9D0A-CC8E03D64A2F}" type="presParOf" srcId="{B1CCBE9D-8698-42F6-BE76-738D36B61A0F}" destId="{1C99CA7B-61B1-49AE-B11A-B4F5168D0956}" srcOrd="3" destOrd="0" presId="urn:microsoft.com/office/officeart/2005/8/layout/hierarchy1"/>
    <dgm:cxn modelId="{A5673FF4-5A53-4E19-96E6-AAD6EC9E9F38}" type="presParOf" srcId="{1C99CA7B-61B1-49AE-B11A-B4F5168D0956}" destId="{D2DC96AB-CD05-488F-801E-F27FD896DBEE}" srcOrd="0" destOrd="0" presId="urn:microsoft.com/office/officeart/2005/8/layout/hierarchy1"/>
    <dgm:cxn modelId="{5368110A-6B44-4D29-B40A-0278B1067B8C}" type="presParOf" srcId="{D2DC96AB-CD05-488F-801E-F27FD896DBEE}" destId="{A4390371-14E8-4AB2-9A04-50FDEE118E71}" srcOrd="0" destOrd="0" presId="urn:microsoft.com/office/officeart/2005/8/layout/hierarchy1"/>
    <dgm:cxn modelId="{ED5BCE82-38B5-4193-9585-69DC3CFF342D}" type="presParOf" srcId="{D2DC96AB-CD05-488F-801E-F27FD896DBEE}" destId="{A607B827-74D7-4598-A7B7-02FC00655E10}" srcOrd="1" destOrd="0" presId="urn:microsoft.com/office/officeart/2005/8/layout/hierarchy1"/>
    <dgm:cxn modelId="{8BFE43DD-8135-4684-B04A-13E5E5F0096D}" type="presParOf" srcId="{1C99CA7B-61B1-49AE-B11A-B4F5168D0956}" destId="{0A7EE7AA-218C-491E-8985-6F22C74D527A}" srcOrd="1" destOrd="0" presId="urn:microsoft.com/office/officeart/2005/8/layout/hierarchy1"/>
    <dgm:cxn modelId="{A9CB314F-3AB5-4BE7-A04B-C2B7EE660475}" type="presParOf" srcId="{B1CCBE9D-8698-42F6-BE76-738D36B61A0F}" destId="{D0B9A811-BA43-47DA-BC17-3528FCA3EA5A}" srcOrd="4" destOrd="0" presId="urn:microsoft.com/office/officeart/2005/8/layout/hierarchy1"/>
    <dgm:cxn modelId="{D3DBF39D-9699-4B5B-91BC-2C80127FEDED}" type="presParOf" srcId="{B1CCBE9D-8698-42F6-BE76-738D36B61A0F}" destId="{A8C972EA-7772-42C1-AAC9-DC2FF07093C2}" srcOrd="5" destOrd="0" presId="urn:microsoft.com/office/officeart/2005/8/layout/hierarchy1"/>
    <dgm:cxn modelId="{A6F749E2-44F3-4E1C-A330-EF2AB4A400A7}" type="presParOf" srcId="{A8C972EA-7772-42C1-AAC9-DC2FF07093C2}" destId="{0226A3C6-98AB-4E17-B982-6A44923F406E}" srcOrd="0" destOrd="0" presId="urn:microsoft.com/office/officeart/2005/8/layout/hierarchy1"/>
    <dgm:cxn modelId="{7EF81B3C-5E0B-45AF-B595-E0F4BBAAC31C}" type="presParOf" srcId="{0226A3C6-98AB-4E17-B982-6A44923F406E}" destId="{72F42FA9-A153-4CF2-8208-029461843931}" srcOrd="0" destOrd="0" presId="urn:microsoft.com/office/officeart/2005/8/layout/hierarchy1"/>
    <dgm:cxn modelId="{F24F4EC0-4885-402B-8F9D-E510AD3C81D9}" type="presParOf" srcId="{0226A3C6-98AB-4E17-B982-6A44923F406E}" destId="{78D339C2-27AE-45B9-BF91-EEB3B53230B5}" srcOrd="1" destOrd="0" presId="urn:microsoft.com/office/officeart/2005/8/layout/hierarchy1"/>
    <dgm:cxn modelId="{9467B715-4F48-49D8-9413-D44277732B57}" type="presParOf" srcId="{A8C972EA-7772-42C1-AAC9-DC2FF07093C2}" destId="{AE2EE114-3443-4C04-A662-26939252830D}" srcOrd="1" destOrd="0" presId="urn:microsoft.com/office/officeart/2005/8/layout/hierarchy1"/>
    <dgm:cxn modelId="{93F89424-7CF0-43D1-AAAF-7104043493AD}" type="presParOf" srcId="{BFBF1184-5014-47A6-AA92-AAADAF7ABE55}" destId="{A41DB81E-D42F-405E-94B3-6C81CA46A64A}" srcOrd="1" destOrd="0" presId="urn:microsoft.com/office/officeart/2005/8/layout/hierarchy1"/>
    <dgm:cxn modelId="{F2E1E3FA-B64A-4F60-80DD-616DB3C811DC}" type="presParOf" srcId="{A41DB81E-D42F-405E-94B3-6C81CA46A64A}" destId="{AA858A91-28AC-47F8-AC02-0BE1E1B28113}" srcOrd="0" destOrd="0" presId="urn:microsoft.com/office/officeart/2005/8/layout/hierarchy1"/>
    <dgm:cxn modelId="{B56802E8-7D4B-4BDA-98C7-403ADE7C389C}" type="presParOf" srcId="{AA858A91-28AC-47F8-AC02-0BE1E1B28113}" destId="{1459312F-6644-467E-883F-B256B32B43B6}" srcOrd="0" destOrd="0" presId="urn:microsoft.com/office/officeart/2005/8/layout/hierarchy1"/>
    <dgm:cxn modelId="{E2D4080C-7572-4850-B2FB-7DFB945A6C76}" type="presParOf" srcId="{AA858A91-28AC-47F8-AC02-0BE1E1B28113}" destId="{04EB7F82-7B0D-4B28-B9F1-A4F81505BB6F}" srcOrd="1" destOrd="0" presId="urn:microsoft.com/office/officeart/2005/8/layout/hierarchy1"/>
    <dgm:cxn modelId="{782E64D9-72DE-4D75-9B85-C00F31932CB5}" type="presParOf" srcId="{A41DB81E-D42F-405E-94B3-6C81CA46A64A}" destId="{BF42E2AD-B672-4295-AB08-498B28B6C0C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3B038D1-19A4-4152-A010-ABF1BF614334}" type="doc">
      <dgm:prSet loTypeId="urn:microsoft.com/office/officeart/2005/8/layout/target2" loCatId="relationship" qsTypeId="urn:microsoft.com/office/officeart/2005/8/quickstyle/3d2#3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F7A64F46-1DE9-4275-8EAE-A010FE51C972}">
      <dgm:prSet custT="1"/>
      <dgm:spPr>
        <a:solidFill>
          <a:srgbClr val="CBA9E5"/>
        </a:solidFill>
        <a:ln>
          <a:solidFill>
            <a:schemeClr val="accent6">
              <a:lumMod val="40000"/>
              <a:lumOff val="60000"/>
            </a:schemeClr>
          </a:solidFill>
        </a:ln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angle"/>
        </a:sp3d>
      </dgm:spPr>
      <dgm:t>
        <a:bodyPr/>
        <a:lstStyle/>
        <a:p>
          <a:pPr algn="ctr" rtl="0"/>
          <a:r>
            <a:rPr lang="ru-RU" sz="1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Bolalarda BOS differensial terapiyasi sxemasi</a:t>
          </a:r>
        </a:p>
      </dgm:t>
    </dgm:pt>
    <dgm:pt modelId="{D02C83A2-3E0C-4C2F-9364-1484432A5C40}" type="parTrans" cxnId="{F8E72C2B-1B97-429B-9FFB-5D57E03D96B2}">
      <dgm:prSet/>
      <dgm:spPr/>
      <dgm:t>
        <a:bodyPr/>
        <a:lstStyle/>
        <a:p>
          <a:endParaRPr lang="ru-RU">
            <a:solidFill>
              <a:schemeClr val="tx1"/>
            </a:solidFill>
          </a:endParaRPr>
        </a:p>
      </dgm:t>
    </dgm:pt>
    <dgm:pt modelId="{59B36BB7-E762-4E97-AD24-A13B4CC0DC96}" type="sibTrans" cxnId="{F8E72C2B-1B97-429B-9FFB-5D57E03D96B2}">
      <dgm:prSet/>
      <dgm:spPr/>
      <dgm:t>
        <a:bodyPr/>
        <a:lstStyle/>
        <a:p>
          <a:endParaRPr lang="ru-RU">
            <a:solidFill>
              <a:schemeClr val="tx1"/>
            </a:solidFill>
          </a:endParaRPr>
        </a:p>
      </dgm:t>
    </dgm:pt>
    <dgm:pt modelId="{0F5D479E-E4E3-44F3-B566-82E6A47FD129}" type="pres">
      <dgm:prSet presAssocID="{E3B038D1-19A4-4152-A010-ABF1BF614334}" presName="Name0" presStyleCnt="0">
        <dgm:presLayoutVars>
          <dgm:chMax val="3"/>
          <dgm:chPref val="1"/>
          <dgm:dir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1CF42F6F-4BB3-4A3F-A882-D54191C6737A}" type="pres">
      <dgm:prSet presAssocID="{E3B038D1-19A4-4152-A010-ABF1BF614334}" presName="outerBox" presStyleCnt="0"/>
      <dgm:spPr/>
    </dgm:pt>
    <dgm:pt modelId="{8F2D4B31-432F-4B61-91C2-99EC7B10FAA0}" type="pres">
      <dgm:prSet presAssocID="{E3B038D1-19A4-4152-A010-ABF1BF614334}" presName="outerBoxParent" presStyleLbl="node1" presStyleIdx="0" presStyleCnt="1" custLinFactNeighborX="-6249" custLinFactNeighborY="-4467"/>
      <dgm:spPr/>
      <dgm:t>
        <a:bodyPr/>
        <a:lstStyle/>
        <a:p>
          <a:endParaRPr lang="ru-RU"/>
        </a:p>
      </dgm:t>
    </dgm:pt>
    <dgm:pt modelId="{F291BBAA-7E13-44F4-B47C-1C2121840EA1}" type="pres">
      <dgm:prSet presAssocID="{E3B038D1-19A4-4152-A010-ABF1BF614334}" presName="outerBoxChildren" presStyleCnt="0"/>
      <dgm:spPr/>
    </dgm:pt>
  </dgm:ptLst>
  <dgm:cxnLst>
    <dgm:cxn modelId="{ECEB0655-39B8-4F3C-88E1-22BD09B5B584}" type="presOf" srcId="{F7A64F46-1DE9-4275-8EAE-A010FE51C972}" destId="{8F2D4B31-432F-4B61-91C2-99EC7B10FAA0}" srcOrd="0" destOrd="0" presId="urn:microsoft.com/office/officeart/2005/8/layout/target2"/>
    <dgm:cxn modelId="{7B3B58BC-DA50-4FCF-B79E-00A293A4E26A}" type="presOf" srcId="{E3B038D1-19A4-4152-A010-ABF1BF614334}" destId="{0F5D479E-E4E3-44F3-B566-82E6A47FD129}" srcOrd="0" destOrd="0" presId="urn:microsoft.com/office/officeart/2005/8/layout/target2"/>
    <dgm:cxn modelId="{F8E72C2B-1B97-429B-9FFB-5D57E03D96B2}" srcId="{E3B038D1-19A4-4152-A010-ABF1BF614334}" destId="{F7A64F46-1DE9-4275-8EAE-A010FE51C972}" srcOrd="0" destOrd="0" parTransId="{D02C83A2-3E0C-4C2F-9364-1484432A5C40}" sibTransId="{59B36BB7-E762-4E97-AD24-A13B4CC0DC96}"/>
    <dgm:cxn modelId="{4BBC167C-E583-4989-B34C-5EE80736DE21}" type="presParOf" srcId="{0F5D479E-E4E3-44F3-B566-82E6A47FD129}" destId="{1CF42F6F-4BB3-4A3F-A882-D54191C6737A}" srcOrd="0" destOrd="0" presId="urn:microsoft.com/office/officeart/2005/8/layout/target2"/>
    <dgm:cxn modelId="{35B4DDD3-5F59-496C-8951-CF0D9241D5F3}" type="presParOf" srcId="{1CF42F6F-4BB3-4A3F-A882-D54191C6737A}" destId="{8F2D4B31-432F-4B61-91C2-99EC7B10FAA0}" srcOrd="0" destOrd="0" presId="urn:microsoft.com/office/officeart/2005/8/layout/target2"/>
    <dgm:cxn modelId="{2F95D741-9A67-4CDF-A791-A6461B8D5B73}" type="presParOf" srcId="{1CF42F6F-4BB3-4A3F-A882-D54191C6737A}" destId="{F291BBAA-7E13-44F4-B47C-1C2121840EA1}" srcOrd="1" destOrd="0" presId="urn:microsoft.com/office/officeart/2005/8/layout/targe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B9A811-BA43-47DA-BC17-3528FCA3EA5A}">
      <dsp:nvSpPr>
        <dsp:cNvPr id="0" name=""/>
        <dsp:cNvSpPr/>
      </dsp:nvSpPr>
      <dsp:spPr>
        <a:xfrm>
          <a:off x="4129603" y="2699889"/>
          <a:ext cx="3899044" cy="9156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68024"/>
              </a:lnTo>
              <a:lnTo>
                <a:pt x="3899044" y="768024"/>
              </a:lnTo>
              <a:lnTo>
                <a:pt x="3899044" y="915677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DB0361-751B-448C-88E2-E64573E5E9AF}">
      <dsp:nvSpPr>
        <dsp:cNvPr id="0" name=""/>
        <dsp:cNvSpPr/>
      </dsp:nvSpPr>
      <dsp:spPr>
        <a:xfrm>
          <a:off x="4129603" y="2699889"/>
          <a:ext cx="216245" cy="8943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46710"/>
              </a:lnTo>
              <a:lnTo>
                <a:pt x="216245" y="746710"/>
              </a:lnTo>
              <a:lnTo>
                <a:pt x="216245" y="894362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72F936-7A07-483E-9441-E922840A9573}">
      <dsp:nvSpPr>
        <dsp:cNvPr id="0" name=""/>
        <dsp:cNvSpPr/>
      </dsp:nvSpPr>
      <dsp:spPr>
        <a:xfrm>
          <a:off x="1142200" y="2699889"/>
          <a:ext cx="2987402" cy="893218"/>
        </a:xfrm>
        <a:custGeom>
          <a:avLst/>
          <a:gdLst/>
          <a:ahLst/>
          <a:cxnLst/>
          <a:rect l="0" t="0" r="0" b="0"/>
          <a:pathLst>
            <a:path>
              <a:moveTo>
                <a:pt x="2987402" y="0"/>
              </a:moveTo>
              <a:lnTo>
                <a:pt x="2987402" y="745566"/>
              </a:lnTo>
              <a:lnTo>
                <a:pt x="0" y="745566"/>
              </a:lnTo>
              <a:lnTo>
                <a:pt x="0" y="893218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0606A5-E0C7-430B-A42C-3E52C98A29A1}">
      <dsp:nvSpPr>
        <dsp:cNvPr id="0" name=""/>
        <dsp:cNvSpPr/>
      </dsp:nvSpPr>
      <dsp:spPr>
        <a:xfrm>
          <a:off x="2662911" y="1782951"/>
          <a:ext cx="2933383" cy="91693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61A600-4A75-4D0F-A248-417410710331}">
      <dsp:nvSpPr>
        <dsp:cNvPr id="0" name=""/>
        <dsp:cNvSpPr/>
      </dsp:nvSpPr>
      <dsp:spPr>
        <a:xfrm>
          <a:off x="2840006" y="1951191"/>
          <a:ext cx="2933383" cy="9169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1600" b="1" kern="1200" dirty="0">
              <a:latin typeface="Times New Roman" pitchFamily="18" charset="0"/>
              <a:cs typeface="Times New Roman" pitchFamily="18" charset="0"/>
            </a:rPr>
            <a:t>Jami tekshirilgan</a:t>
          </a:r>
        </a:p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1600" b="1" kern="1200" dirty="0">
              <a:latin typeface="Times New Roman" pitchFamily="18" charset="0"/>
              <a:cs typeface="Times New Roman" pitchFamily="18" charset="0"/>
            </a:rPr>
            <a:t>150 bola </a:t>
          </a:r>
        </a:p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1600" b="1" kern="1200" dirty="0">
              <a:latin typeface="Times New Roman" pitchFamily="18" charset="0"/>
              <a:cs typeface="Times New Roman" pitchFamily="18" charset="0"/>
            </a:rPr>
            <a:t>1 dan 3 yoshgacha</a:t>
          </a:r>
        </a:p>
      </dsp:txBody>
      <dsp:txXfrm>
        <a:off x="2866862" y="1978047"/>
        <a:ext cx="2879671" cy="863225"/>
      </dsp:txXfrm>
    </dsp:sp>
    <dsp:sp modelId="{B570C9B2-E362-43F5-89EF-9080F4228BE7}">
      <dsp:nvSpPr>
        <dsp:cNvPr id="0" name=""/>
        <dsp:cNvSpPr/>
      </dsp:nvSpPr>
      <dsp:spPr>
        <a:xfrm>
          <a:off x="-93980" y="3593108"/>
          <a:ext cx="2472362" cy="82183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2E95E1-41AA-414E-BA52-8BFB156D5AAC}">
      <dsp:nvSpPr>
        <dsp:cNvPr id="0" name=""/>
        <dsp:cNvSpPr/>
      </dsp:nvSpPr>
      <dsp:spPr>
        <a:xfrm>
          <a:off x="83113" y="3761347"/>
          <a:ext cx="2472362" cy="8218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1600" b="1" kern="1200" dirty="0">
              <a:latin typeface="Times New Roman" pitchFamily="18" charset="0"/>
              <a:cs typeface="Times New Roman" pitchFamily="18" charset="0"/>
            </a:rPr>
            <a:t>60 </a:t>
          </a:r>
          <a:r>
            <a:rPr lang="ru-RU" sz="1600" b="1" kern="1200" dirty="0" err="1">
              <a:latin typeface="Times New Roman" pitchFamily="18" charset="0"/>
              <a:cs typeface="Times New Roman" pitchFamily="18" charset="0"/>
            </a:rPr>
            <a:t>nafar</a:t>
          </a:r>
          <a:r>
            <a:rPr lang="ru-RU" sz="1600" b="1" kern="1200" dirty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1600" b="1" kern="1200" dirty="0">
              <a:latin typeface="Times New Roman" pitchFamily="18" charset="0"/>
              <a:cs typeface="Times New Roman" pitchFamily="18" charset="0"/>
            </a:rPr>
            <a:t>o'</a:t>
          </a:r>
          <a:r>
            <a:rPr lang="ru-RU" sz="1600" b="1" kern="1200" dirty="0" err="1">
              <a:latin typeface="Times New Roman" pitchFamily="18" charset="0"/>
              <a:cs typeface="Times New Roman" pitchFamily="18" charset="0"/>
            </a:rPr>
            <a:t>tkir</a:t>
          </a:r>
          <a:r>
            <a:rPr lang="ru-RU" sz="1600" b="1" kern="1200" dirty="0">
              <a:latin typeface="Times New Roman" pitchFamily="18" charset="0"/>
              <a:cs typeface="Times New Roman" pitchFamily="18" charset="0"/>
            </a:rPr>
            <a:t> obstruktiv bronxitli bemor</a:t>
          </a:r>
        </a:p>
      </dsp:txBody>
      <dsp:txXfrm>
        <a:off x="107184" y="3785418"/>
        <a:ext cx="2424220" cy="773688"/>
      </dsp:txXfrm>
    </dsp:sp>
    <dsp:sp modelId="{A4390371-14E8-4AB2-9A04-50FDEE118E71}">
      <dsp:nvSpPr>
        <dsp:cNvPr id="0" name=""/>
        <dsp:cNvSpPr/>
      </dsp:nvSpPr>
      <dsp:spPr>
        <a:xfrm>
          <a:off x="3018300" y="3594251"/>
          <a:ext cx="2655097" cy="84690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07B827-74D7-4598-A7B7-02FC00655E10}">
      <dsp:nvSpPr>
        <dsp:cNvPr id="0" name=""/>
        <dsp:cNvSpPr/>
      </dsp:nvSpPr>
      <dsp:spPr>
        <a:xfrm>
          <a:off x="3195394" y="3762491"/>
          <a:ext cx="2655097" cy="8469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kern="1200" dirty="0">
              <a:latin typeface="Times New Roman" pitchFamily="18" charset="0"/>
              <a:cs typeface="Times New Roman" pitchFamily="18" charset="0"/>
            </a:rPr>
            <a:t>60 </a:t>
          </a:r>
          <a:r>
            <a:rPr lang="ru-RU" sz="1600" b="1" kern="1200" dirty="0" err="1">
              <a:latin typeface="Times New Roman" pitchFamily="18" charset="0"/>
              <a:cs typeface="Times New Roman" pitchFamily="18" charset="0"/>
            </a:rPr>
            <a:t>nafar</a:t>
          </a:r>
          <a:r>
            <a:rPr lang="ru-RU" sz="1600" b="1" kern="1200" dirty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1600" b="1" kern="1200" dirty="0">
              <a:latin typeface="Times New Roman" pitchFamily="18" charset="0"/>
              <a:cs typeface="Times New Roman" pitchFamily="18" charset="0"/>
            </a:rPr>
            <a:t>o'</a:t>
          </a:r>
          <a:r>
            <a:rPr lang="ru-RU" sz="1600" b="1" kern="1200" dirty="0" err="1">
              <a:latin typeface="Times New Roman" pitchFamily="18" charset="0"/>
              <a:cs typeface="Times New Roman" pitchFamily="18" charset="0"/>
            </a:rPr>
            <a:t>tkir</a:t>
          </a:r>
          <a:r>
            <a:rPr lang="ru-RU" sz="1600" b="1" kern="1200" dirty="0">
              <a:latin typeface="Times New Roman" pitchFamily="18" charset="0"/>
              <a:cs typeface="Times New Roman" pitchFamily="18" charset="0"/>
            </a:rPr>
            <a:t> bronxiolitli bemor</a:t>
          </a:r>
          <a:endParaRPr lang="uz-Cyrl-UZ" sz="16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220199" y="3787296"/>
        <a:ext cx="2605487" cy="797290"/>
      </dsp:txXfrm>
    </dsp:sp>
    <dsp:sp modelId="{72F42FA9-A153-4CF2-8208-029461843931}">
      <dsp:nvSpPr>
        <dsp:cNvPr id="0" name=""/>
        <dsp:cNvSpPr/>
      </dsp:nvSpPr>
      <dsp:spPr>
        <a:xfrm>
          <a:off x="6719428" y="3615566"/>
          <a:ext cx="2618439" cy="90596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D339C2-27AE-45B9-BF91-EEB3B53230B5}">
      <dsp:nvSpPr>
        <dsp:cNvPr id="0" name=""/>
        <dsp:cNvSpPr/>
      </dsp:nvSpPr>
      <dsp:spPr>
        <a:xfrm>
          <a:off x="6896523" y="3783806"/>
          <a:ext cx="2618439" cy="90596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1600" b="1" kern="1200" dirty="0">
              <a:latin typeface="Times New Roman" pitchFamily="18" charset="0"/>
              <a:cs typeface="Times New Roman" pitchFamily="18" charset="0"/>
            </a:rPr>
            <a:t>Qiyoslash guruhi – </a:t>
          </a:r>
          <a:r>
            <a:rPr lang="en-US" sz="1600" b="1" kern="1200" dirty="0">
              <a:latin typeface="Times New Roman" pitchFamily="18" charset="0"/>
              <a:cs typeface="Times New Roman" pitchFamily="18" charset="0"/>
            </a:rPr>
            <a:t>o'</a:t>
          </a:r>
          <a:r>
            <a:rPr lang="ru-RU" sz="1600" b="1" kern="1200" dirty="0" err="1">
              <a:latin typeface="Times New Roman" pitchFamily="18" charset="0"/>
              <a:cs typeface="Times New Roman" pitchFamily="18" charset="0"/>
            </a:rPr>
            <a:t>tkir</a:t>
          </a:r>
          <a:r>
            <a:rPr lang="ru-RU" sz="1600" b="1" kern="1200" dirty="0">
              <a:latin typeface="Times New Roman" pitchFamily="18" charset="0"/>
              <a:cs typeface="Times New Roman" pitchFamily="18" charset="0"/>
            </a:rPr>
            <a:t> bronxitli 30 bola</a:t>
          </a:r>
        </a:p>
      </dsp:txBody>
      <dsp:txXfrm>
        <a:off x="6923058" y="3810341"/>
        <a:ext cx="2565369" cy="852896"/>
      </dsp:txXfrm>
    </dsp:sp>
    <dsp:sp modelId="{1459312F-6644-467E-883F-B256B32B43B6}">
      <dsp:nvSpPr>
        <dsp:cNvPr id="0" name=""/>
        <dsp:cNvSpPr/>
      </dsp:nvSpPr>
      <dsp:spPr>
        <a:xfrm>
          <a:off x="2394383" y="5193841"/>
          <a:ext cx="4180905" cy="734082"/>
        </a:xfrm>
        <a:prstGeom prst="roundRect">
          <a:avLst>
            <a:gd name="adj" fmla="val 10000"/>
          </a:avLst>
        </a:prstGeom>
        <a:solidFill>
          <a:schemeClr val="bg2">
            <a:lumMod val="5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EB7F82-7B0D-4B28-B9F1-A4F81505BB6F}">
      <dsp:nvSpPr>
        <dsp:cNvPr id="0" name=""/>
        <dsp:cNvSpPr/>
      </dsp:nvSpPr>
      <dsp:spPr>
        <a:xfrm>
          <a:off x="2571477" y="5362080"/>
          <a:ext cx="4180905" cy="7340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kern="1200" dirty="0">
              <a:latin typeface="Times New Roman" pitchFamily="18" charset="0"/>
              <a:cs typeface="Times New Roman" pitchFamily="18" charset="0"/>
            </a:rPr>
            <a:t>Nazorat guruhi – amaliy sogʼlom 30 bola</a:t>
          </a:r>
        </a:p>
      </dsp:txBody>
      <dsp:txXfrm>
        <a:off x="2592978" y="5383581"/>
        <a:ext cx="4137903" cy="6910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2">
  <dgm:title val=""/>
  <dgm:desc val=""/>
  <dgm:catLst>
    <dgm:cat type="relationship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chMax val="3"/>
      <dgm:chPref val="1"/>
      <dgm:dir/>
      <dgm:animLvl val="lvl"/>
      <dgm:resizeHandles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 ch" ptType="node node" st="1 1" cnt="1 0" func="cnt" op="gt" val="0">
            <dgm:choose name="Name5">
              <dgm:if name="Name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395"/>
                  <dgm:constr type="t" for="ch" forName="centerBox" refType="h" fact="0.5"/>
                  <dgm:constr type="w" for="ch" forName="centerBox" refType="w" fact="0.5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22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8">
            <dgm:choose name="Name9">
              <dgm:if name="Name1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26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if>
      <dgm:else name="Name12">
        <dgm:choose name="Name13">
          <dgm:if name="Name14" axis="ch ch" ptType="node node" st="1 1" cnt="1 0" func="cnt" op="gt" val="0">
            <dgm:choose name="Name15">
              <dgm:if name="Name1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18">
            <dgm:choose name="Name19">
              <dgm:if name="Name2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2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else>
    </dgm:choose>
    <dgm:ruleLst/>
    <dgm:choose name="Name22">
      <dgm:if name="Name23" axis="root ch" ptType="all node" st="1 1" cnt="0 0" func="cnt" op="gte" val="1">
        <dgm:layoutNode name="outerBox" styleLbl="node1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24">
            <dgm:if name="Name25" axis="root ch" ptType="all node" st="1 1" cnt="0 0" func="cnt" op="gt" val="1">
              <dgm:choose name="Name26">
                <dgm:if name="Name27" func="var" arg="dir" op="equ" val="norm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0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if>
                <dgm:else name="Name28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8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else>
              </dgm:choose>
            </dgm:if>
            <dgm:else name="Name29">
              <dgm:constrLst>
                <dgm:constr type="l" for="ch" forName="outerBoxParent"/>
                <dgm:constr type="t" for="ch" forName="outerBoxParent"/>
                <dgm:constr type="w" for="ch" forName="outerBoxParent" refType="w"/>
                <dgm:constr type="h" for="ch" forName="outerBoxParent" refType="h"/>
                <dgm:constr type="bMarg" for="ch" forName="outerBoxParent" refType="h" fact="1.75"/>
                <dgm:constr type="l" for="ch" forName="outerBoxChildren" refType="w" fact="0.025"/>
                <dgm:constr type="t" for="ch" forName="outerBoxChildren" refType="h" fact="0.45"/>
                <dgm:constr type="w" for="ch" forName="outerBoxChildren" refType="w" fact="0.95"/>
                <dgm:constr type="h" for="ch" forName="outerBoxChildren" refType="h" fact="0.45"/>
              </dgm:constrLst>
            </dgm:else>
          </dgm:choose>
          <dgm:ruleLst/>
          <dgm:layoutNode name="ou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085"/>
              </dgm:adjLst>
            </dgm:shape>
            <dgm:presOf axis="ch" ptType="node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outerBoxChildren">
            <dgm:choose name="Name30">
              <dgm:if name="Name31" axis="root ch" ptType="all node" st="1 1" cnt="0 0" func="cnt" op="gt" val="1">
                <dgm:alg type="lin">
                  <dgm:param type="linDir" val="fromT"/>
                  <dgm:param type="vertAlign" val="t"/>
                </dgm:alg>
              </dgm:if>
              <dgm:else name="Name32">
                <dgm:choose name="Name33">
                  <dgm:if name="Name34" func="var" arg="dir" op="equ" val="norm">
                    <dgm:alg type="lin">
                      <dgm:param type="horzAlign" val="l"/>
                    </dgm:alg>
                  </dgm:if>
                  <dgm:else name="Name35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oChild" refType="w"/>
              <dgm:constr type="h" for="ch" forName="oChild" refType="h"/>
            </dgm:constrLst>
            <dgm:ruleLst/>
            <dgm:forEach name="Name36" axis="ch ch" ptType="node node" st="1 1" cnt="1 0">
              <dgm:layoutNode name="o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37" axis="followSib" ptType="sibTrans" cnt="1">
                <dgm:layoutNode name="outer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38"/>
    </dgm:choose>
    <dgm:choose name="Name39">
      <dgm:if name="Name40" axis="root ch" ptType="all node" st="1 1" cnt="0 0" func="cnt" op="gte" val="2">
        <dgm:layoutNode name="middle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41">
            <dgm:if name="Name42" axis="root ch" ptType="all node" st="1 1" cnt="0 0" func="cnt" op="gt" val="2">
              <dgm:choose name="Name43">
                <dgm:if name="Name44" func="var" arg="dir" op="equ" val="norm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02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if>
                <dgm:else name="Name45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77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else>
              </dgm:choose>
            </dgm:if>
            <dgm:else name="Name46">
              <dgm:constrLst>
                <dgm:constr type="l" for="ch" forName="middleBoxParent"/>
                <dgm:constr type="t" for="ch" forName="middleBoxParent"/>
                <dgm:constr type="w" for="ch" forName="middleBoxParent" refType="w"/>
                <dgm:constr type="h" for="ch" forName="middleBoxParent" refType="h"/>
                <dgm:constr type="bMarg" for="ch" forName="middleBoxParent" refType="h" fact="1.8"/>
                <dgm:constr type="l" for="ch" forName="middleBoxChildren" refType="w" fact="0.025"/>
                <dgm:constr type="t" for="ch" forName="middleBoxChildren" refType="h" fact="0.45"/>
                <dgm:constr type="w" for="ch" forName="middleBoxChildren" refType="w" fact="0.95"/>
                <dgm:constr type="h" for="ch" forName="middleBoxChildren" refType="h" fact="0.45"/>
              </dgm:constrLst>
            </dgm:else>
          </dgm:choose>
          <dgm:ruleLst/>
          <dgm:layoutNode name="middle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2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middleBoxChildren">
            <dgm:choose name="Name47">
              <dgm:if name="Name48" axis="root ch" ptType="all node" st="1 1" cnt="0 0" func="cnt" op="gt" val="2">
                <dgm:alg type="lin">
                  <dgm:param type="linDir" val="fromT"/>
                  <dgm:param type="vertAlign" val="t"/>
                </dgm:alg>
              </dgm:if>
              <dgm:else name="Name49">
                <dgm:choose name="Name50">
                  <dgm:if name="Name51" func="var" arg="dir" op="equ" val="norm">
                    <dgm:alg type="lin">
                      <dgm:param type="horzAlign" val="l"/>
                    </dgm:alg>
                  </dgm:if>
                  <dgm:else name="Name52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mChild" refType="w"/>
              <dgm:constr type="h" for="ch" forName="mChild" refType="h"/>
            </dgm:constrLst>
            <dgm:ruleLst/>
            <dgm:forEach name="Name53" axis="ch ch" ptType="node node" st="2 1" cnt="1 0">
              <dgm:layoutNode name="m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54" axis="followSib" ptType="sibTrans" cnt="1">
                <dgm:layoutNode name="middle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55"/>
    </dgm:choose>
    <dgm:choose name="Name56">
      <dgm:if name="Name57" axis="root ch" ptType="all node" st="1 1" cnt="0 0" func="cnt" op="gte" val="3">
        <dgm:layoutNode name="center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58">
            <dgm:if name="Name59" axis="ch ch" ptType="node node" st="3 1" cnt="1 0" func="cnt" op="gt" val="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  <dgm:constr type="bMarg" for="ch" forName="centerBoxParent" refType="h" fact="1.6"/>
                <dgm:constr type="l" for="ch" forName="centerBoxChildren" refType="w" fact="0.025"/>
                <dgm:constr type="t" for="ch" forName="centerBoxChildren" refType="h" fact="0.45"/>
                <dgm:constr type="w" for="ch" forName="centerBoxChildren" refType="w" fact="0.95"/>
                <dgm:constr type="h" for="ch" forName="centerBoxChildren" refType="h" fact="0.45"/>
              </dgm:constrLst>
            </dgm:if>
            <dgm:else name="Name6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</dgm:constrLst>
            </dgm:else>
          </dgm:choose>
          <dgm:ruleLst/>
          <dgm:layoutNode name="cen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3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choose name="Name61">
            <dgm:if name="Name62" axis="ch ch" ptType="node node" st="3 1" cnt="1 0" func="cnt" op="gt" val="0">
              <dgm:layoutNode name="centerBoxChildren">
                <dgm:choose name="Name63">
                  <dgm:if name="Name64" func="var" arg="dir" op="equ" val="norm">
                    <dgm:alg type="lin">
                      <dgm:param type="horzAlign" val="l"/>
                    </dgm:alg>
                  </dgm:if>
                  <dgm:else name="Name65">
                    <dgm:alg type="lin">
                      <dgm:param type="linDir" val="fromR"/>
                      <dgm:param type="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cChild" refType="w"/>
                  <dgm:constr type="h" for="ch" forName="cChild" refType="h"/>
                </dgm:constrLst>
                <dgm:ruleLst/>
                <dgm:forEach name="Name66" axis="ch ch" ptType="node node" st="3 1" cnt="1 0">
                  <dgm:layoutNode name="cChild" styleLbl="fgAcc1">
                    <dgm:varLst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05"/>
                      </dgm:adjLst>
                    </dgm:shape>
                    <dgm:presOf axis="desOrSelf" ptType="node"/>
                    <dgm:constrLst>
                      <dgm:constr type="tMarg" refType="primFontSz" fact="0.3"/>
                      <dgm:constr type="bMarg" refType="primFontSz" fact="0.3"/>
                      <dgm:constr type="lMarg" refType="primFontSz" fact="0.3"/>
                      <dgm:constr type="rMarg" refType="primFontSz" fact="0.3"/>
                    </dgm:constrLst>
                    <dgm:ruleLst>
                      <dgm:rule type="primFontSz" val="5" fact="NaN" max="NaN"/>
                    </dgm:ruleLst>
                  </dgm:layoutNode>
                  <dgm:forEach name="Name67" axis="followSib" ptType="sibTrans" cnt="1">
                    <dgm:layoutNode name="centerSibTrans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  <dgm:constrLst>
                        <dgm:constr type="userA"/>
                        <dgm:constr type="w" refType="userA" fact="0.015"/>
                        <dgm:constr type="h" refType="userA" fact="0.015"/>
                      </dgm:constrLst>
                      <dgm:ruleLst/>
                    </dgm:layoutNode>
                  </dgm:forEach>
                </dgm:forEach>
              </dgm:layoutNode>
            </dgm:if>
            <dgm:else name="Name68"/>
          </dgm:choose>
        </dgm:layoutNode>
      </dgm:if>
      <dgm:else name="Name6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#3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0.83417</cdr:x>
      <cdr:y>0.04095</cdr:y>
    </cdr:from>
    <cdr:to>
      <cdr:x>0.96685</cdr:x>
      <cdr:y>0.11409</cdr:y>
    </cdr:to>
    <cdr:sp macro="" textlink="">
      <cdr:nvSpPr>
        <cdr:cNvPr id="2" name="Прямоугольник 1"/>
        <cdr:cNvSpPr/>
      </cdr:nvSpPr>
      <cdr:spPr>
        <a:xfrm xmlns:a="http://schemas.openxmlformats.org/drawingml/2006/main">
          <a:off x="4954795" y="108070"/>
          <a:ext cx="788083" cy="193013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2">
          <a:schemeClr val="accent6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accent6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p&lt;0,001</a:t>
          </a:r>
          <a:endParaRPr lang="ru-RU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0.8476</cdr:x>
      <cdr:y>0.03634</cdr:y>
    </cdr:from>
    <cdr:to>
      <cdr:x>0.9341</cdr:x>
      <cdr:y>0.11158</cdr:y>
    </cdr:to>
    <cdr:sp macro="" textlink="">
      <cdr:nvSpPr>
        <cdr:cNvPr id="2" name="Прямоугольник 1"/>
        <cdr:cNvSpPr/>
      </cdr:nvSpPr>
      <cdr:spPr>
        <a:xfrm xmlns:a="http://schemas.openxmlformats.org/drawingml/2006/main">
          <a:off x="10233472" y="179434"/>
          <a:ext cx="1044308" cy="371524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2">
          <a:schemeClr val="accent6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accent6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800">
              <a:latin typeface="Times New Roman" panose="02020603050405020304" pitchFamily="18" charset="0"/>
              <a:cs typeface="Times New Roman" panose="02020603050405020304" pitchFamily="18" charset="0"/>
            </a:rPr>
            <a:t>p&lt;0,001</a:t>
          </a:r>
          <a:endParaRPr lang="ru-RU" sz="1800">
            <a:latin typeface="Times New Roman" panose="02020603050405020304" pitchFamily="18" charset="0"/>
            <a:cs typeface="Times New Roman" panose="02020603050405020304" pitchFamily="18" charset="0"/>
          </a:endParaRP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0.86219</cdr:x>
      <cdr:y>0.022</cdr:y>
    </cdr:from>
    <cdr:to>
      <cdr:x>0.98938</cdr:x>
      <cdr:y>0.10123</cdr:y>
    </cdr:to>
    <cdr:sp macro="" textlink="">
      <cdr:nvSpPr>
        <cdr:cNvPr id="2" name="Прямоугольник 1"/>
        <cdr:cNvSpPr/>
      </cdr:nvSpPr>
      <cdr:spPr>
        <a:xfrm xmlns:a="http://schemas.openxmlformats.org/drawingml/2006/main">
          <a:off x="5121227" y="55740"/>
          <a:ext cx="755465" cy="200738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2">
          <a:schemeClr val="accent6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accent6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p&lt;0,001</a:t>
          </a:r>
          <a:endParaRPr lang="ru-RU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0.82272</cdr:x>
      <cdr:y>0</cdr:y>
    </cdr:from>
    <cdr:to>
      <cdr:x>0.95382</cdr:x>
      <cdr:y>0.05722</cdr:y>
    </cdr:to>
    <cdr:sp macro="" textlink="">
      <cdr:nvSpPr>
        <cdr:cNvPr id="2" name="Прямоугольник 1"/>
        <cdr:cNvSpPr/>
      </cdr:nvSpPr>
      <cdr:spPr>
        <a:xfrm xmlns:a="http://schemas.openxmlformats.org/drawingml/2006/main">
          <a:off x="5258146" y="0"/>
          <a:ext cx="837853" cy="299995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2">
          <a:schemeClr val="accent6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accent6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p&lt;0,001</a:t>
          </a:r>
          <a:endParaRPr lang="ru-RU" dirty="0">
            <a:latin typeface="Times New Roman" panose="02020603050405020304" pitchFamily="18" charset="0"/>
            <a:cs typeface="Times New Roman" panose="02020603050405020304" pitchFamily="18" charset="0"/>
          </a:endParaRPr>
        </a:p>
      </cdr:txBody>
    </cdr:sp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0.8604</cdr:x>
      <cdr:y>0.12127</cdr:y>
    </cdr:from>
    <cdr:to>
      <cdr:x>1</cdr:x>
      <cdr:y>0.17123</cdr:y>
    </cdr:to>
    <cdr:sp macro="" textlink="">
      <cdr:nvSpPr>
        <cdr:cNvPr id="2" name="Прямоугольник 1"/>
        <cdr:cNvSpPr/>
      </cdr:nvSpPr>
      <cdr:spPr>
        <a:xfrm xmlns:a="http://schemas.openxmlformats.org/drawingml/2006/main">
          <a:off x="4902692" y="714233"/>
          <a:ext cx="795463" cy="294238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2">
          <a:schemeClr val="accent6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accent6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p&lt;0,001</a:t>
          </a:r>
          <a:endParaRPr lang="ru-RU" dirty="0">
            <a:latin typeface="Times New Roman" panose="02020603050405020304" pitchFamily="18" charset="0"/>
            <a:cs typeface="Times New Roman" panose="02020603050405020304" pitchFamily="18" charset="0"/>
          </a:endParaRPr>
        </a:p>
      </cdr:txBody>
    </cdr:sp>
  </cdr:relSizeAnchor>
</c:userShapes>
</file>

<file path=ppt/drawings/drawing6.xml><?xml version="1.0" encoding="utf-8"?>
<c:userShapes xmlns:c="http://schemas.openxmlformats.org/drawingml/2006/chart">
  <cdr:relSizeAnchor xmlns:cdr="http://schemas.openxmlformats.org/drawingml/2006/chartDrawing">
    <cdr:from>
      <cdr:x>0.88358</cdr:x>
      <cdr:y>0</cdr:y>
    </cdr:from>
    <cdr:to>
      <cdr:x>0.95806</cdr:x>
      <cdr:y>0.12215</cdr:y>
    </cdr:to>
    <cdr:sp macro="" textlink="">
      <cdr:nvSpPr>
        <cdr:cNvPr id="2" name="Прямоугольник 1"/>
        <cdr:cNvSpPr/>
      </cdr:nvSpPr>
      <cdr:spPr>
        <a:xfrm xmlns:a="http://schemas.openxmlformats.org/drawingml/2006/main">
          <a:off x="9939003" y="-783772"/>
          <a:ext cx="837853" cy="299995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2">
          <a:schemeClr val="accent6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accent6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p&lt;0,001</a:t>
          </a:r>
          <a:endParaRPr lang="ru-RU" dirty="0">
            <a:latin typeface="Times New Roman" panose="02020603050405020304" pitchFamily="18" charset="0"/>
            <a:cs typeface="Times New Roman" panose="02020603050405020304" pitchFamily="18" charset="0"/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CAA4C2-A413-4590-A7AB-6E7669C8C0D5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EFF11D-D638-4BAA-81A8-EE0C89EEF9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8329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EFF11D-D638-4BAA-81A8-EE0C89EEF9BC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17340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dirty="0"/>
          </a:p>
        </p:txBody>
      </p:sp>
      <p:sp>
        <p:nvSpPr>
          <p:cNvPr id="39940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DFF357E-A488-449B-9786-50F78E09C67E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64088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A72DA-08FB-4641-87AB-65615EE1BC69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BD1AE-1FAB-4DE2-8EC0-B1993B5160D8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8675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A72DA-08FB-4641-87AB-65615EE1BC69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BD1AE-1FAB-4DE2-8EC0-B1993B5160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1733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A72DA-08FB-4641-87AB-65615EE1BC69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BD1AE-1FAB-4DE2-8EC0-B1993B5160D8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3331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A72DA-08FB-4641-87AB-65615EE1BC69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BD1AE-1FAB-4DE2-8EC0-B1993B5160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0260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A72DA-08FB-4641-87AB-65615EE1BC69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BD1AE-1FAB-4DE2-8EC0-B1993B5160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5154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A72DA-08FB-4641-87AB-65615EE1BC69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BD1AE-1FAB-4DE2-8EC0-B1993B5160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4750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A72DA-08FB-4641-87AB-65615EE1BC69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BD1AE-1FAB-4DE2-8EC0-B1993B5160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0252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33A72DA-08FB-4641-87AB-65615EE1BC69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73BD1AE-1FAB-4DE2-8EC0-B1993B5160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0273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A72DA-08FB-4641-87AB-65615EE1BC69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BD1AE-1FAB-4DE2-8EC0-B1993B5160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538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A72DA-08FB-4641-87AB-65615EE1BC69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BD1AE-1FAB-4DE2-8EC0-B1993B5160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9010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A72DA-08FB-4641-87AB-65615EE1BC69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BD1AE-1FAB-4DE2-8EC0-B1993B5160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4682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33A72DA-08FB-4641-87AB-65615EE1BC69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73BD1AE-1FAB-4DE2-8EC0-B1993B5160D8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6157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847528" y="260648"/>
            <a:ext cx="8712968" cy="864096"/>
          </a:xfrm>
        </p:spPr>
        <p:txBody>
          <a:bodyPr>
            <a:normAutofit/>
          </a:bodyPr>
          <a:lstStyle/>
          <a:p>
            <a:pPr algn="ctr"/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BOLALAR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MILLIY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TIBBIYOT MARKAZI</a:t>
            </a:r>
            <a:endParaRPr lang="ru-RU" sz="2400" spc="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09600" y="1429788"/>
            <a:ext cx="11225047" cy="4613659"/>
          </a:xfrm>
        </p:spPr>
        <p:txBody>
          <a:bodyPr>
            <a:normAutofit fontScale="77500" lnSpcReduction="20000"/>
          </a:bodyPr>
          <a:lstStyle/>
          <a:p>
            <a:pPr algn="ctr">
              <a:lnSpc>
                <a:spcPct val="120000"/>
              </a:lnSpc>
            </a:pPr>
            <a:endParaRPr lang="ru-RU" sz="3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</a:pPr>
            <a:endParaRPr lang="ru-RU" sz="3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</a:pP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BOLALARDA BRONXOBSTRUKTIV SINDROMDA SUNʼIY INTELLEKTNI Q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o'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LLAGAN HOLDA DAVOLASH-TASHXIS TAKTIKASINI OPTIMALLASHTIRISH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uz-Cyrl-UZ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14.00.09 - Pediatriya</a:t>
            </a:r>
            <a:endParaRPr lang="ru-RU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1900" b="1" cap="small" dirty="0" err="1">
                <a:solidFill>
                  <a:srgbClr val="000000"/>
                </a:solidFill>
                <a:latin typeface="Times New Roman" panose="02020603050405020304" pitchFamily="18" charset="0"/>
                <a:ea typeface="Montserrat Semi-Bold"/>
                <a:cs typeface="Times New Roman" panose="02020603050405020304" pitchFamily="18" charset="0"/>
                <a:sym typeface="Montserrat Semi-Bold"/>
              </a:rPr>
              <a:t>tibbiyot</a:t>
            </a:r>
            <a:r>
              <a:rPr lang="en-US" sz="1900" b="1" cap="small" dirty="0">
                <a:solidFill>
                  <a:srgbClr val="000000"/>
                </a:solidFill>
                <a:latin typeface="Times New Roman" panose="02020603050405020304" pitchFamily="18" charset="0"/>
                <a:ea typeface="Montserrat Semi-Bold"/>
                <a:cs typeface="Times New Roman" panose="02020603050405020304" pitchFamily="18" charset="0"/>
                <a:sym typeface="Montserrat Semi-Bold"/>
              </a:rPr>
              <a:t> </a:t>
            </a:r>
            <a:r>
              <a:rPr lang="en-US" sz="1900" b="1" cap="small" dirty="0" err="1">
                <a:solidFill>
                  <a:srgbClr val="000000"/>
                </a:solidFill>
                <a:latin typeface="Times New Roman" panose="02020603050405020304" pitchFamily="18" charset="0"/>
                <a:ea typeface="Montserrat Semi-Bold"/>
                <a:cs typeface="Times New Roman" panose="02020603050405020304" pitchFamily="18" charset="0"/>
                <a:sym typeface="Montserrat Semi-Bold"/>
              </a:rPr>
              <a:t>fanlari</a:t>
            </a:r>
            <a:r>
              <a:rPr lang="en-US" sz="1900" b="1" cap="small" dirty="0">
                <a:solidFill>
                  <a:srgbClr val="000000"/>
                </a:solidFill>
                <a:latin typeface="Times New Roman" panose="02020603050405020304" pitchFamily="18" charset="0"/>
                <a:ea typeface="Montserrat Semi-Bold"/>
                <a:cs typeface="Times New Roman" panose="02020603050405020304" pitchFamily="18" charset="0"/>
                <a:sym typeface="Montserrat Semi-Bold"/>
              </a:rPr>
              <a:t>  </a:t>
            </a:r>
            <a:r>
              <a:rPr lang="en-US" sz="1900" b="1" cap="small" dirty="0" err="1">
                <a:solidFill>
                  <a:srgbClr val="000000"/>
                </a:solidFill>
                <a:latin typeface="Times New Roman" panose="02020603050405020304" pitchFamily="18" charset="0"/>
                <a:ea typeface="Montserrat Semi-Bold"/>
                <a:cs typeface="Times New Roman" panose="02020603050405020304" pitchFamily="18" charset="0"/>
                <a:sym typeface="Montserrat Semi-Bold"/>
              </a:rPr>
              <a:t>bo'yicha</a:t>
            </a:r>
            <a:r>
              <a:rPr lang="en-US" sz="1900" b="1" cap="small" dirty="0">
                <a:solidFill>
                  <a:srgbClr val="000000"/>
                </a:solidFill>
                <a:latin typeface="Times New Roman" panose="02020603050405020304" pitchFamily="18" charset="0"/>
                <a:ea typeface="Montserrat Semi-Bold"/>
                <a:cs typeface="Times New Roman" panose="02020603050405020304" pitchFamily="18" charset="0"/>
                <a:sym typeface="Montserrat Semi-Bold"/>
              </a:rPr>
              <a:t>  </a:t>
            </a:r>
            <a:r>
              <a:rPr lang="en-US" sz="1900" b="1" cap="small" dirty="0" err="1">
                <a:solidFill>
                  <a:srgbClr val="000000"/>
                </a:solidFill>
                <a:latin typeface="Times New Roman" panose="02020603050405020304" pitchFamily="18" charset="0"/>
                <a:ea typeface="Montserrat Semi-Bold"/>
                <a:cs typeface="Times New Roman" panose="02020603050405020304" pitchFamily="18" charset="0"/>
                <a:sym typeface="Montserrat Semi-Bold"/>
              </a:rPr>
              <a:t>falsafa</a:t>
            </a:r>
            <a:r>
              <a:rPr lang="en-US" sz="1900" b="1" cap="small" dirty="0">
                <a:solidFill>
                  <a:srgbClr val="000000"/>
                </a:solidFill>
                <a:latin typeface="Times New Roman" panose="02020603050405020304" pitchFamily="18" charset="0"/>
                <a:ea typeface="Montserrat Semi-Bold"/>
                <a:cs typeface="Times New Roman" panose="02020603050405020304" pitchFamily="18" charset="0"/>
                <a:sym typeface="Montserrat Semi-Bold"/>
              </a:rPr>
              <a:t>  </a:t>
            </a:r>
            <a:r>
              <a:rPr lang="en-US" sz="1900" b="1" cap="small" dirty="0" err="1">
                <a:solidFill>
                  <a:srgbClr val="000000"/>
                </a:solidFill>
                <a:latin typeface="Times New Roman" panose="02020603050405020304" pitchFamily="18" charset="0"/>
                <a:ea typeface="Montserrat Semi-Bold"/>
                <a:cs typeface="Times New Roman" panose="02020603050405020304" pitchFamily="18" charset="0"/>
                <a:sym typeface="Montserrat Semi-Bold"/>
              </a:rPr>
              <a:t>doktori</a:t>
            </a:r>
            <a:r>
              <a:rPr lang="en-US" sz="1900" b="1" cap="small" dirty="0">
                <a:solidFill>
                  <a:srgbClr val="000000"/>
                </a:solidFill>
                <a:latin typeface="Times New Roman" panose="02020603050405020304" pitchFamily="18" charset="0"/>
                <a:ea typeface="Montserrat Semi-Bold"/>
                <a:cs typeface="Times New Roman" panose="02020603050405020304" pitchFamily="18" charset="0"/>
                <a:sym typeface="Montserrat Semi-Bold"/>
              </a:rPr>
              <a:t> (</a:t>
            </a:r>
            <a:r>
              <a:rPr lang="en-US" sz="1900" b="1" cap="small" dirty="0" err="1">
                <a:solidFill>
                  <a:srgbClr val="000000"/>
                </a:solidFill>
                <a:latin typeface="Times New Roman" panose="02020603050405020304" pitchFamily="18" charset="0"/>
                <a:ea typeface="Montserrat Semi-Bold"/>
                <a:cs typeface="Times New Roman" panose="02020603050405020304" pitchFamily="18" charset="0"/>
                <a:sym typeface="Montserrat Semi-Bold"/>
              </a:rPr>
              <a:t>phd</a:t>
            </a:r>
            <a:r>
              <a:rPr lang="en-US" sz="1900" b="1" cap="small" dirty="0">
                <a:solidFill>
                  <a:srgbClr val="000000"/>
                </a:solidFill>
                <a:latin typeface="Times New Roman" panose="02020603050405020304" pitchFamily="18" charset="0"/>
                <a:ea typeface="Montserrat Semi-Bold"/>
                <a:cs typeface="Times New Roman" panose="02020603050405020304" pitchFamily="18" charset="0"/>
                <a:sym typeface="Montserrat Semi-Bold"/>
              </a:rPr>
              <a:t>)  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1900" b="1" cap="small" dirty="0" err="1">
                <a:solidFill>
                  <a:srgbClr val="000000"/>
                </a:solidFill>
                <a:latin typeface="Times New Roman" panose="02020603050405020304" pitchFamily="18" charset="0"/>
                <a:ea typeface="Montserrat Semi-Bold"/>
                <a:cs typeface="Times New Roman" panose="02020603050405020304" pitchFamily="18" charset="0"/>
                <a:sym typeface="Montserrat Semi-Bold"/>
              </a:rPr>
              <a:t>dissertatsiyasi</a:t>
            </a:r>
            <a:r>
              <a:rPr lang="en-US" sz="2100" b="1" cap="small" dirty="0">
                <a:solidFill>
                  <a:srgbClr val="000000"/>
                </a:solidFill>
                <a:latin typeface="Times New Roman" panose="02020603050405020304" pitchFamily="18" charset="0"/>
                <a:ea typeface="Montserrat Semi-Bold"/>
                <a:cs typeface="Times New Roman" panose="02020603050405020304" pitchFamily="18" charset="0"/>
                <a:sym typeface="Montserrat Semi-Bold"/>
              </a:rPr>
              <a:t> </a:t>
            </a:r>
            <a:endParaRPr lang="uz-Cyrl-UZ" sz="2100" cap="small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  <a:p>
            <a:pPr algn="ctr"/>
            <a:endParaRPr lang="uz-Cyrl-UZ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uz-Cyrl-UZ" sz="2100" b="1" spc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Mustaqil izlanuvchi:  SHARIPOVA N.P.</a:t>
            </a:r>
          </a:p>
          <a:p>
            <a:pPr algn="ctr"/>
            <a:r>
              <a:rPr lang="uz-Cyrl-UZ" sz="2100" b="1" spc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Ilmiy rahbar: t.f.d., professor Shamsiyev F.M.</a:t>
            </a:r>
          </a:p>
          <a:p>
            <a:pPr algn="ctr"/>
            <a:endParaRPr lang="uz-Cyrl-UZ" sz="2300" b="1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uz-Cyrl-UZ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TOSHKENT– 2026</a:t>
            </a:r>
            <a:endParaRPr lang="ru-RU" sz="1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376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0B5B4C8-23FA-4E4C-8634-75F26CDBD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265" y="0"/>
            <a:ext cx="9875520" cy="1060059"/>
          </a:xfrm>
        </p:spPr>
        <p:txBody>
          <a:bodyPr/>
          <a:lstStyle/>
          <a:p>
            <a:r>
              <a:rPr lang="en-US" sz="4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Dolzarbligi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xmlns="" id="{F795DED9-FC65-43DC-8503-0762554893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7502" y="1223246"/>
            <a:ext cx="11296996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Bronxobstruktiv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sindrom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erta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yoshdagi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bolalarda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ko'p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uchraydi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nafas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olish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tizimining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kasalliklari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birga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kechishi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o'tkir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obstruktiv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bronxit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bronxiolitning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klinik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ko'rinishlari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o'xshashligi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tashxisni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holat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og'irlik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darajasini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o'z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vaqtida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aniqlashni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qiyinlashtiradi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Hayotining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dastlabki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yillaridagi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bolalarda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tashqi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nafas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funksiyasini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o'rganishning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standart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usullarini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qo'llash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ancha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cheklangan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shuning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qulay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ob'ektiv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mezonlar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ayniqsa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muhimdir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Davolashni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asosli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tanlash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anamnez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klinik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belgilar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immunologik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ko'rsatkichlar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nafas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shovqinlari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xususiyatlarini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vaqtda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hisobga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olish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zarur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Ushbu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ma'lumotlarni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raqamli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tizimga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birlashtirish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vrach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qarorlarining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izchilligini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oshirishga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bolani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yuritishning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individual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taktikasini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tanlashga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yordam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berishi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580117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98911" y="325227"/>
            <a:ext cx="8787045" cy="1325563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Tadqiqot maqsadi: 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271751" y="2165684"/>
            <a:ext cx="9480331" cy="4082716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Bolalarda bronxobstruktiv sindromni klinik-immunologik va funksional xususiyatlari asosida, sunʼiy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intellektni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llagan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holda tashxislash, yuritish taktikasi va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davolashni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optimallashtirish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iborat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74002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27803" y="117020"/>
            <a:ext cx="8862735" cy="643960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             Tadqiqot vazifalari: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9807" y="852420"/>
            <a:ext cx="11812385" cy="5636126"/>
          </a:xfrm>
        </p:spPr>
        <p:txBody>
          <a:bodyPr>
            <a:noAutofit/>
          </a:bodyPr>
          <a:lstStyle/>
          <a:p>
            <a:pPr lvl="0"/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ru-R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tkir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obstruktiv bronxit va bronxiolitli bolalarda bronxobstruktiv sindrom rivojlanishi xavf omillarining prognostik ahamiyatini baholash;</a:t>
            </a:r>
          </a:p>
          <a:p>
            <a:pPr lvl="0"/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Bronxobstruktiv sindromli bolalarda </a:t>
            </a:r>
            <a:r>
              <a:rPr lang="ru-R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klinik-sitokin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o'</a:t>
            </a:r>
            <a:r>
              <a:rPr lang="ru-R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rsatkichlarini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o'</a:t>
            </a:r>
            <a:r>
              <a:rPr lang="ru-R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rganish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 </a:t>
            </a:r>
            <a:r>
              <a:rPr lang="ru-R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ularning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o'</a:t>
            </a:r>
            <a:r>
              <a:rPr lang="ru-R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tkir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obstruktiv bronxit hamda bronxiolitdagi kechish xususiyatlarini aniqlash;</a:t>
            </a:r>
          </a:p>
          <a:p>
            <a:pPr lvl="0"/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Bolalarda bronxobstruktiv sindromning kompyuter bronxofonografiya natijalarini baholash,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o'</a:t>
            </a:r>
            <a:r>
              <a:rPr lang="ru-R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tkir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obstruktiv bronxit va bronxiolitda ularning kompyuterlashtirilgan tahlili va </a:t>
            </a:r>
            <a:r>
              <a:rPr lang="ru-R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monitoringini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o'</a:t>
            </a:r>
            <a:r>
              <a:rPr lang="ru-R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tkazish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lvl="0"/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Erta yoshdagi </a:t>
            </a:r>
            <a:r>
              <a:rPr lang="ru-R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bolalarda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o'</a:t>
            </a:r>
            <a:r>
              <a:rPr lang="ru-R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tkir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obstruktiv bronxit va bronxiolitni tashxislash hamda davolashda differensial yondashuvni ishlab chiqish;</a:t>
            </a:r>
          </a:p>
          <a:p>
            <a:pPr lvl="0"/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Bronxobstruktiv sindromli bolalar maʼlumotlarini tizimli tahlil qilish va raqamlashtirish, sunʼiy </a:t>
            </a:r>
            <a:r>
              <a:rPr lang="ru-R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intellektni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o'</a:t>
            </a:r>
            <a:r>
              <a:rPr lang="ru-R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llagan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holda yuritish va davolash uchun algoritm hamda dasturiy majmua ishlab chiqish.</a:t>
            </a:r>
          </a:p>
        </p:txBody>
      </p:sp>
    </p:spTree>
    <p:extLst>
      <p:ext uri="{BB962C8B-B14F-4D97-AF65-F5344CB8AC3E}">
        <p14:creationId xmlns:p14="http://schemas.microsoft.com/office/powerpoint/2010/main" val="486716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11200" y="332657"/>
            <a:ext cx="10668000" cy="1325563"/>
          </a:xfrm>
        </p:spPr>
        <p:txBody>
          <a:bodyPr>
            <a:noAutofit/>
          </a:bodyPr>
          <a:lstStyle/>
          <a:p>
            <a:pPr algn="ctr"/>
            <a:r>
              <a:rPr lang="ru-RU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Bronxit va bronxial astma bilan kasallangan bolalarning uchrash </a:t>
            </a:r>
            <a:r>
              <a:rPr lang="ru-RU" sz="24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chastotasi</a:t>
            </a:r>
            <a:r>
              <a:rPr lang="ru-RU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(2020–2025-yillarda </a:t>
            </a:r>
            <a:r>
              <a:rPr lang="en-US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Respublika </a:t>
            </a:r>
            <a:r>
              <a:rPr lang="en-US" sz="24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ixtisoslashtirilgan</a:t>
            </a:r>
            <a:r>
              <a:rPr lang="en-US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pediatriya</a:t>
            </a:r>
            <a:r>
              <a:rPr lang="en-US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ilmiy-amaliy</a:t>
            </a:r>
            <a:r>
              <a:rPr lang="en-US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tibbiyot</a:t>
            </a:r>
            <a:r>
              <a:rPr lang="en-US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markazi</a:t>
            </a:r>
            <a:r>
              <a:rPr lang="ru-RU" sz="24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da</a:t>
            </a:r>
            <a:r>
              <a:rPr lang="ru-RU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davolangan</a:t>
            </a:r>
            <a:r>
              <a:rPr lang="ru-RU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bronx</a:t>
            </a:r>
            <a:r>
              <a:rPr lang="en-US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o'</a:t>
            </a:r>
            <a:r>
              <a:rPr lang="ru-RU" sz="24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pka</a:t>
            </a:r>
            <a:r>
              <a:rPr lang="ru-RU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patologiyali bolalarning 4392 ta kasallik tarixini tahlil qilish asosida)</a:t>
            </a:r>
            <a:endParaRPr lang="ru-RU" sz="2400" dirty="0">
              <a:solidFill>
                <a:srgbClr val="002060"/>
              </a:solidFill>
            </a:endParaRPr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804370"/>
              </p:ext>
            </p:extLst>
          </p:nvPr>
        </p:nvGraphicFramePr>
        <p:xfrm>
          <a:off x="711201" y="1340768"/>
          <a:ext cx="4863654" cy="49685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2011523"/>
              </p:ext>
            </p:extLst>
          </p:nvPr>
        </p:nvGraphicFramePr>
        <p:xfrm>
          <a:off x="6096000" y="1340768"/>
          <a:ext cx="5638799" cy="49685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Стрелка вправо 9"/>
          <p:cNvSpPr/>
          <p:nvPr/>
        </p:nvSpPr>
        <p:spPr>
          <a:xfrm>
            <a:off x="5731686" y="3175083"/>
            <a:ext cx="1143248" cy="649961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7492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Схема 6"/>
          <p:cNvGraphicFramePr/>
          <p:nvPr>
            <p:extLst>
              <p:ext uri="{D42A27DB-BD31-4B8C-83A1-F6EECF244321}">
                <p14:modId xmlns:p14="http://schemas.microsoft.com/office/powerpoint/2010/main" val="17533434"/>
              </p:ext>
            </p:extLst>
          </p:nvPr>
        </p:nvGraphicFramePr>
        <p:xfrm>
          <a:off x="1577029" y="-803566"/>
          <a:ext cx="10407152" cy="6670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13" name="Соединитель: уступ 11">
            <a:extLst>
              <a:ext uri="{FF2B5EF4-FFF2-40B4-BE49-F238E27FC236}">
                <a16:creationId xmlns:a16="http://schemas.microsoft.com/office/drawing/2014/main" xmlns="" id="{D9706A60-4DE9-4804-B103-F8DCBE268E5D}"/>
              </a:ext>
            </a:extLst>
          </p:cNvPr>
          <p:cNvCxnSpPr>
            <a:cxnSpLocks/>
          </p:cNvCxnSpPr>
          <p:nvPr/>
        </p:nvCxnSpPr>
        <p:spPr>
          <a:xfrm rot="16200000" flipH="1">
            <a:off x="5565983" y="2633595"/>
            <a:ext cx="1960181" cy="1874585"/>
          </a:xfrm>
          <a:prstGeom prst="bentConnector3">
            <a:avLst>
              <a:gd name="adj1" fmla="val -1474"/>
            </a:avLst>
          </a:prstGeom>
          <a:ln>
            <a:solidFill>
              <a:srgbClr val="FFCC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5746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Блок-схема: альтернативный процесс 8"/>
          <p:cNvSpPr/>
          <p:nvPr/>
        </p:nvSpPr>
        <p:spPr>
          <a:xfrm>
            <a:off x="3381151" y="197896"/>
            <a:ext cx="5334000" cy="609600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Bolalarni tekshirish usullari</a:t>
            </a:r>
          </a:p>
        </p:txBody>
      </p:sp>
      <p:grpSp>
        <p:nvGrpSpPr>
          <p:cNvPr id="15" name="Group 11"/>
          <p:cNvGrpSpPr>
            <a:grpSpLocks/>
          </p:cNvGrpSpPr>
          <p:nvPr/>
        </p:nvGrpSpPr>
        <p:grpSpPr bwMode="auto">
          <a:xfrm>
            <a:off x="169333" y="2380561"/>
            <a:ext cx="2692399" cy="3763856"/>
            <a:chOff x="3762" y="1166"/>
            <a:chExt cx="1370" cy="2355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16" name="AutoShape 12"/>
            <p:cNvSpPr>
              <a:spLocks noChangeArrowheads="1"/>
            </p:cNvSpPr>
            <p:nvPr/>
          </p:nvSpPr>
          <p:spPr bwMode="gray">
            <a:xfrm>
              <a:off x="3762" y="1166"/>
              <a:ext cx="1370" cy="2355"/>
            </a:xfrm>
            <a:prstGeom prst="roundRect">
              <a:avLst>
                <a:gd name="adj" fmla="val 8588"/>
              </a:avLst>
            </a:prstGeom>
            <a:grpFill/>
            <a:ln w="9525">
              <a:noFill/>
              <a:round/>
              <a:headEnd/>
              <a:tailEnd/>
            </a:ln>
            <a:effectLst/>
            <a:scene3d>
              <a:camera prst="legacyPerspectiveRight"/>
              <a:lightRig rig="legacyFlat3" dir="r"/>
            </a:scene3d>
            <a:sp3d extrusionH="887400" prstMaterial="legacyPlastic">
              <a:bevelT w="13500" h="13500" prst="angle"/>
              <a:bevelB w="13500" h="13500" prst="angle"/>
              <a:extrusionClr>
                <a:srgbClr val="81CFEB"/>
              </a:extrusionClr>
            </a:sp3d>
          </p:spPr>
          <p:txBody>
            <a:bodyPr wrap="none" anchor="ctr">
              <a:flatTx/>
            </a:bodyPr>
            <a:lstStyle/>
            <a:p>
              <a:pPr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Line 13"/>
            <p:cNvSpPr>
              <a:spLocks noChangeShapeType="1"/>
            </p:cNvSpPr>
            <p:nvPr/>
          </p:nvSpPr>
          <p:spPr bwMode="gray">
            <a:xfrm>
              <a:off x="3829" y="1176"/>
              <a:ext cx="1246" cy="0"/>
            </a:xfrm>
            <a:prstGeom prst="line">
              <a:avLst/>
            </a:prstGeom>
            <a:grpFill/>
            <a:ln w="9525">
              <a:solidFill>
                <a:srgbClr val="F8F8F8">
                  <a:alpha val="25098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Freeform 14"/>
            <p:cNvSpPr>
              <a:spLocks/>
            </p:cNvSpPr>
            <p:nvPr/>
          </p:nvSpPr>
          <p:spPr bwMode="gray">
            <a:xfrm flipV="1">
              <a:off x="3772" y="3487"/>
              <a:ext cx="1353" cy="30"/>
            </a:xfrm>
            <a:custGeom>
              <a:avLst/>
              <a:gdLst>
                <a:gd name="T0" fmla="*/ 0 w 1318"/>
                <a:gd name="T1" fmla="*/ 74 h 19"/>
                <a:gd name="T2" fmla="*/ 78 w 1318"/>
                <a:gd name="T3" fmla="*/ 0 h 19"/>
                <a:gd name="T4" fmla="*/ 1351 w 1318"/>
                <a:gd name="T5" fmla="*/ 0 h 19"/>
                <a:gd name="T6" fmla="*/ 1426 w 1318"/>
                <a:gd name="T7" fmla="*/ 74 h 1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18"/>
                <a:gd name="T13" fmla="*/ 0 h 19"/>
                <a:gd name="T14" fmla="*/ 1318 w 1318"/>
                <a:gd name="T15" fmla="*/ 19 h 1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18" h="19">
                  <a:moveTo>
                    <a:pt x="0" y="19"/>
                  </a:moveTo>
                  <a:cubicBezTo>
                    <a:pt x="12" y="16"/>
                    <a:pt x="12" y="1"/>
                    <a:pt x="72" y="0"/>
                  </a:cubicBezTo>
                  <a:lnTo>
                    <a:pt x="1249" y="0"/>
                  </a:lnTo>
                  <a:cubicBezTo>
                    <a:pt x="1305" y="1"/>
                    <a:pt x="1304" y="15"/>
                    <a:pt x="1318" y="19"/>
                  </a:cubicBezTo>
                </a:path>
              </a:pathLst>
            </a:custGeom>
            <a:grpFill/>
            <a:ln w="9525">
              <a:solidFill>
                <a:srgbClr val="FFFFFF">
                  <a:alpha val="20000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Freeform 15"/>
            <p:cNvSpPr>
              <a:spLocks/>
            </p:cNvSpPr>
            <p:nvPr/>
          </p:nvSpPr>
          <p:spPr bwMode="gray">
            <a:xfrm>
              <a:off x="3779" y="1169"/>
              <a:ext cx="1336" cy="23"/>
            </a:xfrm>
            <a:custGeom>
              <a:avLst/>
              <a:gdLst>
                <a:gd name="T0" fmla="*/ 0 w 1318"/>
                <a:gd name="T1" fmla="*/ 34 h 19"/>
                <a:gd name="T2" fmla="*/ 75 w 1318"/>
                <a:gd name="T3" fmla="*/ 0 h 19"/>
                <a:gd name="T4" fmla="*/ 1301 w 1318"/>
                <a:gd name="T5" fmla="*/ 0 h 19"/>
                <a:gd name="T6" fmla="*/ 1372 w 1318"/>
                <a:gd name="T7" fmla="*/ 34 h 1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18"/>
                <a:gd name="T13" fmla="*/ 0 h 19"/>
                <a:gd name="T14" fmla="*/ 1318 w 1318"/>
                <a:gd name="T15" fmla="*/ 19 h 1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18" h="19">
                  <a:moveTo>
                    <a:pt x="0" y="19"/>
                  </a:moveTo>
                  <a:cubicBezTo>
                    <a:pt x="12" y="16"/>
                    <a:pt x="12" y="1"/>
                    <a:pt x="72" y="0"/>
                  </a:cubicBezTo>
                  <a:lnTo>
                    <a:pt x="1249" y="0"/>
                  </a:lnTo>
                  <a:cubicBezTo>
                    <a:pt x="1305" y="1"/>
                    <a:pt x="1304" y="15"/>
                    <a:pt x="1318" y="19"/>
                  </a:cubicBezTo>
                </a:path>
              </a:pathLst>
            </a:custGeom>
            <a:grpFill/>
            <a:ln w="9525">
              <a:solidFill>
                <a:srgbClr val="F8F8F8">
                  <a:alpha val="39999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3" name="Oval 18"/>
          <p:cNvSpPr>
            <a:spLocks noChangeArrowheads="1"/>
          </p:cNvSpPr>
          <p:nvPr/>
        </p:nvSpPr>
        <p:spPr bwMode="gray">
          <a:xfrm>
            <a:off x="577972" y="955141"/>
            <a:ext cx="2137019" cy="133932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defRPr/>
            </a:pPr>
            <a:r>
              <a:rPr lang="ru-RU" b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Umumklinik </a:t>
            </a:r>
          </a:p>
          <a:p>
            <a:pPr algn="ctr">
              <a:defRPr/>
            </a:pPr>
            <a:r>
              <a:rPr lang="ru-RU" b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tekshiruvlar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301005" y="2723196"/>
            <a:ext cx="282613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Char char="-"/>
              <a:defRPr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Anamnez, </a:t>
            </a:r>
          </a:p>
          <a:p>
            <a:pPr>
              <a:buFontTx/>
              <a:buChar char="-"/>
              <a:defRPr/>
            </a:pPr>
            <a:r>
              <a:rPr lang="ru-RU" dirty="0" err="1">
                <a:latin typeface="Times New Roman" pitchFamily="18" charset="0"/>
                <a:cs typeface="Times New Roman" pitchFamily="18" charset="0"/>
              </a:rPr>
              <a:t>allergologik anamnez;</a:t>
            </a:r>
          </a:p>
          <a:p>
            <a:pPr>
              <a:buFontTx/>
              <a:buChar char="-"/>
              <a:defRPr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Umumiy holatni baholash;</a:t>
            </a:r>
          </a:p>
          <a:p>
            <a:pPr>
              <a:buFontTx/>
              <a:buChar char="-"/>
              <a:defRPr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Klinik maʼlumotlarni yigʼish;</a:t>
            </a:r>
          </a:p>
          <a:p>
            <a:pPr>
              <a:buFontTx/>
              <a:buChar char="-"/>
              <a:defRPr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Bemor holatini klinik respirator shkala (KRSh) 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o'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yicha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baholash</a:t>
            </a:r>
          </a:p>
        </p:txBody>
      </p:sp>
      <p:sp>
        <p:nvSpPr>
          <p:cNvPr id="31" name="Oval 18"/>
          <p:cNvSpPr>
            <a:spLocks noChangeArrowheads="1"/>
          </p:cNvSpPr>
          <p:nvPr/>
        </p:nvSpPr>
        <p:spPr bwMode="gray">
          <a:xfrm>
            <a:off x="3330063" y="996328"/>
            <a:ext cx="2212697" cy="13451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defRPr/>
            </a:pPr>
            <a:r>
              <a:rPr lang="ru-RU" b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Immunologik </a:t>
            </a:r>
          </a:p>
          <a:p>
            <a:pPr algn="ctr">
              <a:defRPr/>
            </a:pPr>
            <a:r>
              <a:rPr lang="ru-RU" b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tekshiruvlar</a:t>
            </a:r>
          </a:p>
        </p:txBody>
      </p:sp>
      <p:sp>
        <p:nvSpPr>
          <p:cNvPr id="33" name="Oval 18"/>
          <p:cNvSpPr>
            <a:spLocks noChangeArrowheads="1"/>
          </p:cNvSpPr>
          <p:nvPr/>
        </p:nvSpPr>
        <p:spPr bwMode="gray">
          <a:xfrm>
            <a:off x="9499689" y="1008026"/>
            <a:ext cx="2206413" cy="128644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defRPr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Raqamli</a:t>
            </a:r>
          </a:p>
          <a:p>
            <a:pPr algn="ctr">
              <a:defRPr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tekshiruv</a:t>
            </a:r>
          </a:p>
          <a:p>
            <a:pPr algn="ctr">
              <a:defRPr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(SIga asoslangan)</a:t>
            </a:r>
          </a:p>
          <a:p>
            <a:pPr algn="ctr">
              <a:defRPr/>
            </a:pPr>
            <a:endParaRPr lang="ru-RU" b="1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4" name="Group 20"/>
          <p:cNvGrpSpPr>
            <a:grpSpLocks/>
          </p:cNvGrpSpPr>
          <p:nvPr/>
        </p:nvGrpSpPr>
        <p:grpSpPr bwMode="auto">
          <a:xfrm>
            <a:off x="3238757" y="2433324"/>
            <a:ext cx="2583654" cy="3773487"/>
            <a:chOff x="3762" y="1166"/>
            <a:chExt cx="1370" cy="2355"/>
          </a:xfrm>
          <a:solidFill>
            <a:schemeClr val="bg2">
              <a:lumMod val="90000"/>
            </a:schemeClr>
          </a:solidFill>
        </p:grpSpPr>
        <p:sp>
          <p:nvSpPr>
            <p:cNvPr id="35" name="AutoShape 21"/>
            <p:cNvSpPr>
              <a:spLocks noChangeArrowheads="1"/>
            </p:cNvSpPr>
            <p:nvPr/>
          </p:nvSpPr>
          <p:spPr bwMode="gray">
            <a:xfrm>
              <a:off x="3762" y="1166"/>
              <a:ext cx="1370" cy="2355"/>
            </a:xfrm>
            <a:prstGeom prst="roundRect">
              <a:avLst>
                <a:gd name="adj" fmla="val 4806"/>
              </a:avLst>
            </a:prstGeom>
            <a:grpFill/>
            <a:ln w="9525">
              <a:noFill/>
              <a:round/>
              <a:headEnd/>
              <a:tailEnd/>
            </a:ln>
            <a:effectLst/>
            <a:scene3d>
              <a:camera prst="legacyPerspectiveLeft"/>
              <a:lightRig rig="legacyFlat3" dir="r"/>
            </a:scene3d>
            <a:sp3d extrusionH="887400" prstMaterial="legacyPlastic">
              <a:bevelT w="13500" h="13500" prst="angle"/>
              <a:bevelB w="13500" h="13500" prst="angle"/>
              <a:extrusionClr>
                <a:srgbClr val="6FB7B7"/>
              </a:extrusionClr>
            </a:sp3d>
          </p:spPr>
          <p:txBody>
            <a:bodyPr wrap="none" anchor="ctr">
              <a:flatTx/>
            </a:bodyPr>
            <a:lstStyle/>
            <a:p>
              <a:pPr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Line 22"/>
            <p:cNvSpPr>
              <a:spLocks noChangeShapeType="1"/>
            </p:cNvSpPr>
            <p:nvPr/>
          </p:nvSpPr>
          <p:spPr bwMode="gray">
            <a:xfrm>
              <a:off x="3829" y="1176"/>
              <a:ext cx="1246" cy="0"/>
            </a:xfrm>
            <a:prstGeom prst="line">
              <a:avLst/>
            </a:prstGeom>
            <a:grpFill/>
            <a:ln w="9525">
              <a:solidFill>
                <a:srgbClr val="F8F8F8">
                  <a:alpha val="25098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Freeform 23"/>
            <p:cNvSpPr>
              <a:spLocks/>
            </p:cNvSpPr>
            <p:nvPr/>
          </p:nvSpPr>
          <p:spPr bwMode="gray">
            <a:xfrm flipV="1">
              <a:off x="3772" y="3487"/>
              <a:ext cx="1353" cy="30"/>
            </a:xfrm>
            <a:custGeom>
              <a:avLst/>
              <a:gdLst>
                <a:gd name="T0" fmla="*/ 0 w 1318"/>
                <a:gd name="T1" fmla="*/ 74 h 19"/>
                <a:gd name="T2" fmla="*/ 78 w 1318"/>
                <a:gd name="T3" fmla="*/ 0 h 19"/>
                <a:gd name="T4" fmla="*/ 1351 w 1318"/>
                <a:gd name="T5" fmla="*/ 0 h 19"/>
                <a:gd name="T6" fmla="*/ 1426 w 1318"/>
                <a:gd name="T7" fmla="*/ 74 h 1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18"/>
                <a:gd name="T13" fmla="*/ 0 h 19"/>
                <a:gd name="T14" fmla="*/ 1318 w 1318"/>
                <a:gd name="T15" fmla="*/ 19 h 1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18" h="19">
                  <a:moveTo>
                    <a:pt x="0" y="19"/>
                  </a:moveTo>
                  <a:cubicBezTo>
                    <a:pt x="12" y="16"/>
                    <a:pt x="12" y="1"/>
                    <a:pt x="72" y="0"/>
                  </a:cubicBezTo>
                  <a:lnTo>
                    <a:pt x="1249" y="0"/>
                  </a:lnTo>
                  <a:cubicBezTo>
                    <a:pt x="1305" y="1"/>
                    <a:pt x="1304" y="15"/>
                    <a:pt x="1318" y="19"/>
                  </a:cubicBezTo>
                </a:path>
              </a:pathLst>
            </a:custGeom>
            <a:grpFill/>
            <a:ln w="9525">
              <a:solidFill>
                <a:srgbClr val="FFFFFF">
                  <a:alpha val="20000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8" name="Freeform 24"/>
            <p:cNvSpPr>
              <a:spLocks/>
            </p:cNvSpPr>
            <p:nvPr/>
          </p:nvSpPr>
          <p:spPr bwMode="gray">
            <a:xfrm>
              <a:off x="3779" y="1169"/>
              <a:ext cx="1336" cy="23"/>
            </a:xfrm>
            <a:custGeom>
              <a:avLst/>
              <a:gdLst>
                <a:gd name="T0" fmla="*/ 0 w 1318"/>
                <a:gd name="T1" fmla="*/ 34 h 19"/>
                <a:gd name="T2" fmla="*/ 75 w 1318"/>
                <a:gd name="T3" fmla="*/ 0 h 19"/>
                <a:gd name="T4" fmla="*/ 1301 w 1318"/>
                <a:gd name="T5" fmla="*/ 0 h 19"/>
                <a:gd name="T6" fmla="*/ 1372 w 1318"/>
                <a:gd name="T7" fmla="*/ 34 h 1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18"/>
                <a:gd name="T13" fmla="*/ 0 h 19"/>
                <a:gd name="T14" fmla="*/ 1318 w 1318"/>
                <a:gd name="T15" fmla="*/ 19 h 1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18" h="19">
                  <a:moveTo>
                    <a:pt x="0" y="19"/>
                  </a:moveTo>
                  <a:cubicBezTo>
                    <a:pt x="12" y="16"/>
                    <a:pt x="12" y="1"/>
                    <a:pt x="72" y="0"/>
                  </a:cubicBezTo>
                  <a:lnTo>
                    <a:pt x="1249" y="0"/>
                  </a:lnTo>
                  <a:cubicBezTo>
                    <a:pt x="1305" y="1"/>
                    <a:pt x="1304" y="15"/>
                    <a:pt x="1318" y="19"/>
                  </a:cubicBezTo>
                </a:path>
              </a:pathLst>
            </a:custGeom>
            <a:grpFill/>
            <a:ln w="9525">
              <a:solidFill>
                <a:srgbClr val="F8F8F8">
                  <a:alpha val="39999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8" name="Прямоугольник 7"/>
          <p:cNvSpPr/>
          <p:nvPr/>
        </p:nvSpPr>
        <p:spPr>
          <a:xfrm>
            <a:off x="3247505" y="2622156"/>
            <a:ext cx="259456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- Periferik qondagi zardob Ig A, G, M, E darajasi G.Manchini et al.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usuli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bo'yicha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gelda oddiy radial immunodiffuziya usuli bilan aniqlandi. 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- Qon zardobidagi IL-4, IL-8, TNF-α va IFNγ sitokinlari darajasi IFA (ELISA) usuli (1999) bilan aniqlandi </a:t>
            </a:r>
          </a:p>
          <a:p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o'</a:t>
            </a:r>
            <a:r>
              <a:rPr lang="ru-RU" sz="1600" dirty="0" err="1">
                <a:latin typeface="Times New Roman" pitchFamily="18" charset="0"/>
                <a:cs typeface="Times New Roman" pitchFamily="18" charset="0"/>
              </a:rPr>
              <a:t>zR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FA Immunologiya va inson genomikasi instituti)</a:t>
            </a:r>
          </a:p>
        </p:txBody>
      </p:sp>
      <p:grpSp>
        <p:nvGrpSpPr>
          <p:cNvPr id="39" name="Group 11"/>
          <p:cNvGrpSpPr>
            <a:grpSpLocks/>
          </p:cNvGrpSpPr>
          <p:nvPr/>
        </p:nvGrpSpPr>
        <p:grpSpPr bwMode="auto">
          <a:xfrm>
            <a:off x="6096000" y="2410586"/>
            <a:ext cx="2663269" cy="3763856"/>
            <a:chOff x="3762" y="1166"/>
            <a:chExt cx="1370" cy="2355"/>
          </a:xfrm>
          <a:solidFill>
            <a:srgbClr val="FED6F4"/>
          </a:solidFill>
        </p:grpSpPr>
        <p:sp>
          <p:nvSpPr>
            <p:cNvPr id="40" name="AutoShape 12"/>
            <p:cNvSpPr>
              <a:spLocks noChangeArrowheads="1"/>
            </p:cNvSpPr>
            <p:nvPr/>
          </p:nvSpPr>
          <p:spPr bwMode="gray">
            <a:xfrm>
              <a:off x="3762" y="1166"/>
              <a:ext cx="1370" cy="2355"/>
            </a:xfrm>
            <a:prstGeom prst="roundRect">
              <a:avLst>
                <a:gd name="adj" fmla="val 8588"/>
              </a:avLst>
            </a:prstGeom>
            <a:grpFill/>
            <a:ln w="9525">
              <a:noFill/>
              <a:round/>
              <a:headEnd/>
              <a:tailEnd/>
            </a:ln>
            <a:effectLst/>
            <a:scene3d>
              <a:camera prst="legacyPerspectiveRight"/>
              <a:lightRig rig="legacyFlat3" dir="r"/>
            </a:scene3d>
            <a:sp3d extrusionH="887400" prstMaterial="legacyPlastic">
              <a:bevelT w="13500" h="13500" prst="angle"/>
              <a:bevelB w="13500" h="13500" prst="angle"/>
              <a:extrusionClr>
                <a:srgbClr val="81CFEB"/>
              </a:extrusionClr>
            </a:sp3d>
          </p:spPr>
          <p:txBody>
            <a:bodyPr wrap="none" anchor="ctr">
              <a:flatTx/>
            </a:bodyPr>
            <a:lstStyle/>
            <a:p>
              <a:pPr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Line 13"/>
            <p:cNvSpPr>
              <a:spLocks noChangeShapeType="1"/>
            </p:cNvSpPr>
            <p:nvPr/>
          </p:nvSpPr>
          <p:spPr bwMode="gray">
            <a:xfrm>
              <a:off x="3829" y="1176"/>
              <a:ext cx="1246" cy="0"/>
            </a:xfrm>
            <a:prstGeom prst="line">
              <a:avLst/>
            </a:prstGeom>
            <a:grpFill/>
            <a:ln w="9525">
              <a:solidFill>
                <a:srgbClr val="F8F8F8">
                  <a:alpha val="25098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2" name="Freeform 14"/>
            <p:cNvSpPr>
              <a:spLocks/>
            </p:cNvSpPr>
            <p:nvPr/>
          </p:nvSpPr>
          <p:spPr bwMode="gray">
            <a:xfrm flipV="1">
              <a:off x="3772" y="3487"/>
              <a:ext cx="1353" cy="30"/>
            </a:xfrm>
            <a:custGeom>
              <a:avLst/>
              <a:gdLst>
                <a:gd name="T0" fmla="*/ 0 w 1318"/>
                <a:gd name="T1" fmla="*/ 74 h 19"/>
                <a:gd name="T2" fmla="*/ 78 w 1318"/>
                <a:gd name="T3" fmla="*/ 0 h 19"/>
                <a:gd name="T4" fmla="*/ 1351 w 1318"/>
                <a:gd name="T5" fmla="*/ 0 h 19"/>
                <a:gd name="T6" fmla="*/ 1426 w 1318"/>
                <a:gd name="T7" fmla="*/ 74 h 1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18"/>
                <a:gd name="T13" fmla="*/ 0 h 19"/>
                <a:gd name="T14" fmla="*/ 1318 w 1318"/>
                <a:gd name="T15" fmla="*/ 19 h 1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18" h="19">
                  <a:moveTo>
                    <a:pt x="0" y="19"/>
                  </a:moveTo>
                  <a:cubicBezTo>
                    <a:pt x="12" y="16"/>
                    <a:pt x="12" y="1"/>
                    <a:pt x="72" y="0"/>
                  </a:cubicBezTo>
                  <a:lnTo>
                    <a:pt x="1249" y="0"/>
                  </a:lnTo>
                  <a:cubicBezTo>
                    <a:pt x="1305" y="1"/>
                    <a:pt x="1304" y="15"/>
                    <a:pt x="1318" y="19"/>
                  </a:cubicBezTo>
                </a:path>
              </a:pathLst>
            </a:custGeom>
            <a:grpFill/>
            <a:ln w="9525">
              <a:solidFill>
                <a:srgbClr val="FFFFFF">
                  <a:alpha val="20000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3" name="Freeform 15"/>
            <p:cNvSpPr>
              <a:spLocks/>
            </p:cNvSpPr>
            <p:nvPr/>
          </p:nvSpPr>
          <p:spPr bwMode="gray">
            <a:xfrm>
              <a:off x="3779" y="1169"/>
              <a:ext cx="1336" cy="23"/>
            </a:xfrm>
            <a:custGeom>
              <a:avLst/>
              <a:gdLst>
                <a:gd name="T0" fmla="*/ 0 w 1318"/>
                <a:gd name="T1" fmla="*/ 34 h 19"/>
                <a:gd name="T2" fmla="*/ 75 w 1318"/>
                <a:gd name="T3" fmla="*/ 0 h 19"/>
                <a:gd name="T4" fmla="*/ 1301 w 1318"/>
                <a:gd name="T5" fmla="*/ 0 h 19"/>
                <a:gd name="T6" fmla="*/ 1372 w 1318"/>
                <a:gd name="T7" fmla="*/ 34 h 1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18"/>
                <a:gd name="T13" fmla="*/ 0 h 19"/>
                <a:gd name="T14" fmla="*/ 1318 w 1318"/>
                <a:gd name="T15" fmla="*/ 19 h 1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18" h="19">
                  <a:moveTo>
                    <a:pt x="0" y="19"/>
                  </a:moveTo>
                  <a:cubicBezTo>
                    <a:pt x="12" y="16"/>
                    <a:pt x="12" y="1"/>
                    <a:pt x="72" y="0"/>
                  </a:cubicBezTo>
                  <a:lnTo>
                    <a:pt x="1249" y="0"/>
                  </a:lnTo>
                  <a:cubicBezTo>
                    <a:pt x="1305" y="1"/>
                    <a:pt x="1304" y="15"/>
                    <a:pt x="1318" y="19"/>
                  </a:cubicBezTo>
                </a:path>
              </a:pathLst>
            </a:custGeom>
            <a:grpFill/>
            <a:ln w="9525">
              <a:solidFill>
                <a:srgbClr val="F8F8F8">
                  <a:alpha val="39999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Прямоугольник 9"/>
          <p:cNvSpPr/>
          <p:nvPr/>
        </p:nvSpPr>
        <p:spPr>
          <a:xfrm>
            <a:off x="6128060" y="2567277"/>
            <a:ext cx="2850986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spcBef>
                <a:spcPct val="0"/>
              </a:spcBef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«Respirator tovushlar registratori» (RTR) (Rossiya) va amaliy kompyuter dasturiy majmuasi — "Pattern 2x1000" </a:t>
            </a:r>
            <a:r>
              <a:rPr lang="en-US" sz="1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Respublika </a:t>
            </a:r>
            <a:r>
              <a:rPr lang="en-US" sz="16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ixtisoslashtirilgan</a:t>
            </a:r>
            <a:r>
              <a:rPr lang="en-US" sz="1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pediatriya</a:t>
            </a:r>
            <a:r>
              <a:rPr lang="en-US" sz="1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ilmiy-amaliy</a:t>
            </a:r>
            <a:r>
              <a:rPr lang="en-US" sz="1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tibbiyot</a:t>
            </a:r>
            <a:r>
              <a:rPr lang="en-US" sz="1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markazi</a:t>
            </a:r>
            <a:r>
              <a:rPr lang="en-US" sz="1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pulmonologiya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o'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limi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rahbari — t.f.d., professor Shamsiyev F.M.) yordamida kompyuter bronxofonografiyasi</a:t>
            </a:r>
            <a:endParaRPr lang="ru-RU" altLang="ru-RU" sz="160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Oval 18"/>
          <p:cNvSpPr>
            <a:spLocks noChangeArrowheads="1"/>
          </p:cNvSpPr>
          <p:nvPr/>
        </p:nvSpPr>
        <p:spPr bwMode="gray">
          <a:xfrm>
            <a:off x="6242218" y="1044166"/>
            <a:ext cx="2206413" cy="128644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defRPr/>
            </a:pPr>
            <a:r>
              <a:rPr lang="ru-RU" b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Funksional</a:t>
            </a:r>
          </a:p>
          <a:p>
            <a:pPr algn="ctr">
              <a:defRPr/>
            </a:pPr>
            <a:r>
              <a:rPr lang="ru-RU" b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tekshiruvlar</a:t>
            </a:r>
          </a:p>
        </p:txBody>
      </p:sp>
      <p:grpSp>
        <p:nvGrpSpPr>
          <p:cNvPr id="27" name="Group 11"/>
          <p:cNvGrpSpPr>
            <a:grpSpLocks/>
          </p:cNvGrpSpPr>
          <p:nvPr/>
        </p:nvGrpSpPr>
        <p:grpSpPr bwMode="auto">
          <a:xfrm>
            <a:off x="9205292" y="2394068"/>
            <a:ext cx="2797722" cy="3763856"/>
            <a:chOff x="3762" y="1166"/>
            <a:chExt cx="1370" cy="2355"/>
          </a:xfrm>
          <a:solidFill>
            <a:srgbClr val="BEF5A3"/>
          </a:solidFill>
        </p:grpSpPr>
        <p:sp>
          <p:nvSpPr>
            <p:cNvPr id="28" name="AutoShape 12"/>
            <p:cNvSpPr>
              <a:spLocks noChangeArrowheads="1"/>
            </p:cNvSpPr>
            <p:nvPr/>
          </p:nvSpPr>
          <p:spPr bwMode="gray">
            <a:xfrm>
              <a:off x="3762" y="1166"/>
              <a:ext cx="1370" cy="2355"/>
            </a:xfrm>
            <a:prstGeom prst="roundRect">
              <a:avLst>
                <a:gd name="adj" fmla="val 8588"/>
              </a:avLst>
            </a:prstGeom>
            <a:grpFill/>
            <a:ln w="9525">
              <a:noFill/>
              <a:round/>
              <a:headEnd/>
              <a:tailEnd/>
            </a:ln>
            <a:effectLst/>
            <a:scene3d>
              <a:camera prst="legacyPerspectiveRight"/>
              <a:lightRig rig="legacyFlat3" dir="r"/>
            </a:scene3d>
            <a:sp3d extrusionH="887400" prstMaterial="legacyPlastic">
              <a:bevelT w="13500" h="13500" prst="angle"/>
              <a:bevelB w="13500" h="13500" prst="angle"/>
              <a:extrusionClr>
                <a:srgbClr val="81CFEB"/>
              </a:extrusionClr>
            </a:sp3d>
          </p:spPr>
          <p:txBody>
            <a:bodyPr wrap="none" anchor="ctr">
              <a:flatTx/>
            </a:bodyPr>
            <a:lstStyle/>
            <a:p>
              <a:pPr>
                <a:defRPr/>
              </a:pPr>
              <a:endParaRPr lang="zh-CN" altLang="en-US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Line 13"/>
            <p:cNvSpPr>
              <a:spLocks noChangeShapeType="1"/>
            </p:cNvSpPr>
            <p:nvPr/>
          </p:nvSpPr>
          <p:spPr bwMode="gray">
            <a:xfrm>
              <a:off x="3829" y="1176"/>
              <a:ext cx="1246" cy="0"/>
            </a:xfrm>
            <a:prstGeom prst="line">
              <a:avLst/>
            </a:prstGeom>
            <a:grpFill/>
            <a:ln w="9525">
              <a:solidFill>
                <a:srgbClr val="F8F8F8">
                  <a:alpha val="25098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" name="Freeform 14"/>
            <p:cNvSpPr>
              <a:spLocks/>
            </p:cNvSpPr>
            <p:nvPr/>
          </p:nvSpPr>
          <p:spPr bwMode="gray">
            <a:xfrm flipV="1">
              <a:off x="3772" y="3487"/>
              <a:ext cx="1353" cy="30"/>
            </a:xfrm>
            <a:custGeom>
              <a:avLst/>
              <a:gdLst>
                <a:gd name="T0" fmla="*/ 0 w 1318"/>
                <a:gd name="T1" fmla="*/ 74 h 19"/>
                <a:gd name="T2" fmla="*/ 78 w 1318"/>
                <a:gd name="T3" fmla="*/ 0 h 19"/>
                <a:gd name="T4" fmla="*/ 1351 w 1318"/>
                <a:gd name="T5" fmla="*/ 0 h 19"/>
                <a:gd name="T6" fmla="*/ 1426 w 1318"/>
                <a:gd name="T7" fmla="*/ 74 h 1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18"/>
                <a:gd name="T13" fmla="*/ 0 h 19"/>
                <a:gd name="T14" fmla="*/ 1318 w 1318"/>
                <a:gd name="T15" fmla="*/ 19 h 1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18" h="19">
                  <a:moveTo>
                    <a:pt x="0" y="19"/>
                  </a:moveTo>
                  <a:cubicBezTo>
                    <a:pt x="12" y="16"/>
                    <a:pt x="12" y="1"/>
                    <a:pt x="72" y="0"/>
                  </a:cubicBezTo>
                  <a:lnTo>
                    <a:pt x="1249" y="0"/>
                  </a:lnTo>
                  <a:cubicBezTo>
                    <a:pt x="1305" y="1"/>
                    <a:pt x="1304" y="15"/>
                    <a:pt x="1318" y="19"/>
                  </a:cubicBezTo>
                </a:path>
              </a:pathLst>
            </a:custGeom>
            <a:grpFill/>
            <a:ln w="9525">
              <a:solidFill>
                <a:srgbClr val="FFFFFF">
                  <a:alpha val="20000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2" name="Freeform 15"/>
            <p:cNvSpPr>
              <a:spLocks/>
            </p:cNvSpPr>
            <p:nvPr/>
          </p:nvSpPr>
          <p:spPr bwMode="gray">
            <a:xfrm>
              <a:off x="3779" y="1169"/>
              <a:ext cx="1336" cy="23"/>
            </a:xfrm>
            <a:custGeom>
              <a:avLst/>
              <a:gdLst>
                <a:gd name="T0" fmla="*/ 0 w 1318"/>
                <a:gd name="T1" fmla="*/ 34 h 19"/>
                <a:gd name="T2" fmla="*/ 75 w 1318"/>
                <a:gd name="T3" fmla="*/ 0 h 19"/>
                <a:gd name="T4" fmla="*/ 1301 w 1318"/>
                <a:gd name="T5" fmla="*/ 0 h 19"/>
                <a:gd name="T6" fmla="*/ 1372 w 1318"/>
                <a:gd name="T7" fmla="*/ 34 h 1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18"/>
                <a:gd name="T13" fmla="*/ 0 h 19"/>
                <a:gd name="T14" fmla="*/ 1318 w 1318"/>
                <a:gd name="T15" fmla="*/ 19 h 1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18" h="19">
                  <a:moveTo>
                    <a:pt x="0" y="19"/>
                  </a:moveTo>
                  <a:cubicBezTo>
                    <a:pt x="12" y="16"/>
                    <a:pt x="12" y="1"/>
                    <a:pt x="72" y="0"/>
                  </a:cubicBezTo>
                  <a:lnTo>
                    <a:pt x="1249" y="0"/>
                  </a:lnTo>
                  <a:cubicBezTo>
                    <a:pt x="1305" y="1"/>
                    <a:pt x="1304" y="15"/>
                    <a:pt x="1318" y="19"/>
                  </a:cubicBezTo>
                </a:path>
              </a:pathLst>
            </a:custGeom>
            <a:grpFill/>
            <a:ln w="9525">
              <a:solidFill>
                <a:srgbClr val="F8F8F8">
                  <a:alpha val="39999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49" name="Прямоугольник 48"/>
          <p:cNvSpPr/>
          <p:nvPr/>
        </p:nvSpPr>
        <p:spPr>
          <a:xfrm>
            <a:off x="9300274" y="2588357"/>
            <a:ext cx="2722393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Bolalarda BOSni tashxislash va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davolash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o'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yicha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sunʼiy intellekt dasturini ishlab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O'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zbekiston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Milliy universiteti hisoblash matematikasi va axborot tizimlari kafedrasida (t.f.d.,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Seytov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A.J. rahbarligida) zamonaviy Python dasturlash tilida amalga oshirildi. </a:t>
            </a:r>
          </a:p>
        </p:txBody>
      </p:sp>
    </p:spTree>
    <p:extLst>
      <p:ext uri="{BB962C8B-B14F-4D97-AF65-F5344CB8AC3E}">
        <p14:creationId xmlns:p14="http://schemas.microsoft.com/office/powerpoint/2010/main" val="4028535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25560" y="265641"/>
            <a:ext cx="12118428" cy="946632"/>
          </a:xfrm>
        </p:spPr>
        <p:txBody>
          <a:bodyPr>
            <a:normAutofit fontScale="90000"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OOB va BL bilan kasallangan bolalarda BOS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rivojlanish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xavfining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faktorli tahlili (OR)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xmlns="" id="{12C11EEC-0311-E5BB-0789-5B637061E4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5205195"/>
              </p:ext>
            </p:extLst>
          </p:nvPr>
        </p:nvGraphicFramePr>
        <p:xfrm>
          <a:off x="297873" y="1212273"/>
          <a:ext cx="11471563" cy="49668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508075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776085" y="281869"/>
            <a:ext cx="10854267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tabLst>
                <a:tab pos="4229100" algn="l"/>
                <a:tab pos="5486400" algn="l"/>
              </a:tabLst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Tekshirilgan bolalarda irsiy moyillikning faktorli tahlili, (RR/OR)</a:t>
            </a:r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xmlns="" id="{1E1D766B-F4C9-4CFA-EAA3-9AC4A1EE37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0519752"/>
              </p:ext>
            </p:extLst>
          </p:nvPr>
        </p:nvGraphicFramePr>
        <p:xfrm>
          <a:off x="494375" y="1835236"/>
          <a:ext cx="5345315" cy="3387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xmlns="" id="{0554A046-E195-1B9E-B44B-CBCFDAB84C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4607070"/>
              </p:ext>
            </p:extLst>
          </p:nvPr>
        </p:nvGraphicFramePr>
        <p:xfrm>
          <a:off x="6525492" y="1764542"/>
          <a:ext cx="4973782" cy="34586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34247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3">
            <a:extLst>
              <a:ext uri="{FF2B5EF4-FFF2-40B4-BE49-F238E27FC236}">
                <a16:creationId xmlns:a16="http://schemas.microsoft.com/office/drawing/2014/main" xmlns="" id="{4FF18CE2-A6E4-40E3-9976-CE221A6992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1891358"/>
              </p:ext>
            </p:extLst>
          </p:nvPr>
        </p:nvGraphicFramePr>
        <p:xfrm>
          <a:off x="118533" y="578070"/>
          <a:ext cx="12073467" cy="55179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Заголовок 1"/>
          <p:cNvSpPr txBox="1">
            <a:spLocks/>
          </p:cNvSpPr>
          <p:nvPr/>
        </p:nvSpPr>
        <p:spPr>
          <a:xfrm>
            <a:off x="0" y="157655"/>
            <a:ext cx="11960772" cy="107847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Bolalarda respirator </a:t>
            </a:r>
            <a:r>
              <a:rPr lang="ru-RU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buzilishlar</a:t>
            </a:r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og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ru-RU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irlik</a:t>
            </a:r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darajasining klinik respirator </a:t>
            </a:r>
            <a:r>
              <a:rPr lang="ru-RU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shkala</a:t>
            </a:r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o'</a:t>
            </a:r>
            <a:r>
              <a:rPr lang="ru-RU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yicha</a:t>
            </a:r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baholanishi, %</a:t>
            </a:r>
            <a:r>
              <a:rPr lang="ru-RU" sz="4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4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4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3594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420414" y="265093"/>
            <a:ext cx="113616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BOSli bolalarda gumoral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immunitet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o'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rsatkichlari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(M±m)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Диаграмма 1">
            <a:extLst>
              <a:ext uri="{FF2B5EF4-FFF2-40B4-BE49-F238E27FC236}">
                <a16:creationId xmlns:a16="http://schemas.microsoft.com/office/drawing/2014/main" xmlns="" id="{6DAEAA7B-20FC-519B-C2A6-F06B393767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3282607"/>
              </p:ext>
            </p:extLst>
          </p:nvPr>
        </p:nvGraphicFramePr>
        <p:xfrm>
          <a:off x="574964" y="1163782"/>
          <a:ext cx="10903527" cy="48906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2433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Диаграмма 1"/>
          <p:cNvGraphicFramePr/>
          <p:nvPr>
            <p:extLst>
              <p:ext uri="{D42A27DB-BD31-4B8C-83A1-F6EECF244321}">
                <p14:modId xmlns:p14="http://schemas.microsoft.com/office/powerpoint/2010/main" val="2040623063"/>
              </p:ext>
            </p:extLst>
          </p:nvPr>
        </p:nvGraphicFramePr>
        <p:xfrm>
          <a:off x="315311" y="914400"/>
          <a:ext cx="11225048" cy="52972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1271753" y="269907"/>
            <a:ext cx="103526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BOSli bolalarda sitokinlar miqdori, (M±m)</a:t>
            </a:r>
            <a:endParaRPr lang="ru-RU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9900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289595" y="0"/>
            <a:ext cx="11629688" cy="95019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Tekshirilgan guruhlardagi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bolalarda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kompyuter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bronxofonografiyasi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natijalari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(mPa)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9511406" y="1484784"/>
            <a:ext cx="11430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1400" dirty="0">
                <a:solidFill>
                  <a:srgbClr val="25178D"/>
                </a:solidFill>
                <a:latin typeface="Times New Roman" pitchFamily="18" charset="0"/>
                <a:cs typeface="Times New Roman" pitchFamily="18" charset="0"/>
              </a:rPr>
              <a:t>P&lt;0,01</a:t>
            </a:r>
          </a:p>
        </p:txBody>
      </p:sp>
      <p:graphicFrame>
        <p:nvGraphicFramePr>
          <p:cNvPr id="12" name="Диаграмма 11"/>
          <p:cNvGraphicFramePr/>
          <p:nvPr>
            <p:extLst>
              <p:ext uri="{D42A27DB-BD31-4B8C-83A1-F6EECF244321}">
                <p14:modId xmlns:p14="http://schemas.microsoft.com/office/powerpoint/2010/main" val="1386057117"/>
              </p:ext>
            </p:extLst>
          </p:nvPr>
        </p:nvGraphicFramePr>
        <p:xfrm>
          <a:off x="289596" y="847023"/>
          <a:ext cx="11435255" cy="3051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Диаграмма 4"/>
          <p:cNvGraphicFramePr/>
          <p:nvPr>
            <p:extLst>
              <p:ext uri="{D42A27DB-BD31-4B8C-83A1-F6EECF244321}">
                <p14:modId xmlns:p14="http://schemas.microsoft.com/office/powerpoint/2010/main" val="2531604338"/>
              </p:ext>
            </p:extLst>
          </p:nvPr>
        </p:nvGraphicFramePr>
        <p:xfrm>
          <a:off x="289595" y="3468412"/>
          <a:ext cx="11435255" cy="27260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45514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15" y="526104"/>
            <a:ext cx="4094296" cy="5459061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5088" y="517791"/>
            <a:ext cx="7269341" cy="5452006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3150524" y="-5429"/>
            <a:ext cx="817141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ompyuter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bronxofonografiyasi</a:t>
            </a:r>
            <a:r>
              <a:rPr lang="en-US" sz="2800" dirty="0" smtClean="0"/>
              <a:t>            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501338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599091" y="211192"/>
            <a:ext cx="11393212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ru-RU" altLang="ru-RU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BOSli bolalarda </a:t>
            </a:r>
            <a:r>
              <a:rPr lang="ru-RU" altLang="ru-RU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immunologik</a:t>
            </a:r>
            <a:r>
              <a:rPr lang="ru-RU" altLang="ru-RU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  <a:r>
              <a:rPr lang="en-US" altLang="ru-RU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o'</a:t>
            </a:r>
            <a:r>
              <a:rPr lang="ru-RU" altLang="ru-RU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rsatkichlarning</a:t>
            </a:r>
            <a:r>
              <a:rPr lang="ru-RU" altLang="ru-RU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KBFG yuqori chastotali </a:t>
            </a:r>
            <a:r>
              <a:rPr lang="ru-RU" altLang="ru-RU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diapazoni</a:t>
            </a:r>
            <a:r>
              <a:rPr lang="ru-RU" altLang="ru-RU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YuCh</a:t>
            </a:r>
            <a:r>
              <a:rPr lang="en-US" altLang="ru-RU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altLang="ru-RU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(R3) k</a:t>
            </a:r>
            <a:r>
              <a:rPr lang="en-US" altLang="ru-RU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o'</a:t>
            </a:r>
            <a:r>
              <a:rPr lang="ru-RU" altLang="ru-RU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rsatkichlari</a:t>
            </a:r>
            <a:r>
              <a:rPr lang="ru-RU" altLang="ru-RU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bilan korrelyatsion bogʼliqligi, (r)</a:t>
            </a:r>
          </a:p>
        </p:txBody>
      </p:sp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xmlns="" id="{F9BB9480-FEEB-AE62-219F-E5113F9D9A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8387313"/>
              </p:ext>
            </p:extLst>
          </p:nvPr>
        </p:nvGraphicFramePr>
        <p:xfrm>
          <a:off x="512618" y="1080655"/>
          <a:ext cx="10896600" cy="48560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04934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Круговая стрелка 30"/>
          <p:cNvSpPr/>
          <p:nvPr/>
        </p:nvSpPr>
        <p:spPr>
          <a:xfrm rot="20958986" flipH="1">
            <a:off x="2801053" y="472217"/>
            <a:ext cx="2177168" cy="1205785"/>
          </a:xfrm>
          <a:prstGeom prst="circularArrow">
            <a:avLst>
              <a:gd name="adj1" fmla="val 9445"/>
              <a:gd name="adj2" fmla="val 1084469"/>
              <a:gd name="adj3" fmla="val 20298898"/>
              <a:gd name="adj4" fmla="val 13121826"/>
              <a:gd name="adj5" fmla="val 10499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>
              <a:solidFill>
                <a:schemeClr val="tx1"/>
              </a:solidFill>
            </a:endParaRPr>
          </a:p>
        </p:txBody>
      </p:sp>
      <p:sp>
        <p:nvSpPr>
          <p:cNvPr id="35" name="Круговая стрелка 34"/>
          <p:cNvSpPr/>
          <p:nvPr/>
        </p:nvSpPr>
        <p:spPr>
          <a:xfrm rot="734624">
            <a:off x="6726220" y="286334"/>
            <a:ext cx="2863323" cy="1519368"/>
          </a:xfrm>
          <a:prstGeom prst="circularArrow">
            <a:avLst>
              <a:gd name="adj1" fmla="val 9925"/>
              <a:gd name="adj2" fmla="val 1504771"/>
              <a:gd name="adj3" fmla="val 19754094"/>
              <a:gd name="adj4" fmla="val 12654835"/>
              <a:gd name="adj5" fmla="val 11543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>
              <a:solidFill>
                <a:schemeClr val="tx1"/>
              </a:solidFill>
            </a:endParaRP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890657" y="4346582"/>
            <a:ext cx="4750478" cy="1882899"/>
          </a:xfrm>
          <a:prstGeom prst="roundRect">
            <a:avLst/>
          </a:prstGeom>
          <a:solidFill>
            <a:srgbClr val="FBC1FF"/>
          </a:solidFill>
          <a:ln>
            <a:solidFill>
              <a:schemeClr val="accent6">
                <a:lumMod val="40000"/>
                <a:lumOff val="60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II guruh – gipoallergik parhez 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fonida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balgʼamko'chiruvchi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 va mukolitik preparatlar, bronxolitik preparat doksofillin (puroksan) qabul qilgan BOS II darajali 27 bemor (3 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yoshgacha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bo'lgan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 bolalar uchun dozasi – sirop 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ko'rinishida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, har 5 kg vaznga 1 ml dan kuniga 2–3 mahal buyuriladi)</a:t>
            </a:r>
          </a:p>
        </p:txBody>
      </p:sp>
      <p:sp>
        <p:nvSpPr>
          <p:cNvPr id="12" name="Выноска со стрелкой вниз 11"/>
          <p:cNvSpPr/>
          <p:nvPr/>
        </p:nvSpPr>
        <p:spPr>
          <a:xfrm>
            <a:off x="1419479" y="1212122"/>
            <a:ext cx="3204576" cy="1284296"/>
          </a:xfrm>
          <a:prstGeom prst="downArrowCallout">
            <a:avLst>
              <a:gd name="adj1" fmla="val 32888"/>
              <a:gd name="adj2" fmla="val 65336"/>
              <a:gd name="adj3" fmla="val 13592"/>
              <a:gd name="adj4" fmla="val 64977"/>
            </a:avLst>
          </a:prstGeom>
          <a:solidFill>
            <a:srgbClr val="E9A57B"/>
          </a:solidFill>
          <a:ln>
            <a:solidFill>
              <a:schemeClr val="accent6">
                <a:lumMod val="40000"/>
                <a:lumOff val="60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BOS II darajali bolalar (51 nafar):</a:t>
            </a:r>
          </a:p>
          <a:p>
            <a:pPr algn="ctr">
              <a:defRPr/>
            </a:pPr>
            <a:r>
              <a:rPr lang="en-US" sz="1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 guruh – 24 bemor</a:t>
            </a:r>
          </a:p>
          <a:p>
            <a:pPr algn="ctr">
              <a:defRPr/>
            </a:pPr>
            <a:r>
              <a:rPr lang="en-US" sz="1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II guruh - 27 bemor</a:t>
            </a:r>
          </a:p>
        </p:txBody>
      </p:sp>
      <p:sp>
        <p:nvSpPr>
          <p:cNvPr id="26" name="Выноска со стрелкой вниз 25"/>
          <p:cNvSpPr/>
          <p:nvPr/>
        </p:nvSpPr>
        <p:spPr>
          <a:xfrm>
            <a:off x="7671662" y="1168873"/>
            <a:ext cx="3133545" cy="1316223"/>
          </a:xfrm>
          <a:prstGeom prst="downArrowCallout">
            <a:avLst>
              <a:gd name="adj1" fmla="val 32888"/>
              <a:gd name="adj2" fmla="val 65336"/>
              <a:gd name="adj3" fmla="val 13592"/>
              <a:gd name="adj4" fmla="val 64977"/>
            </a:avLst>
          </a:prstGeom>
          <a:solidFill>
            <a:srgbClr val="E9A57B"/>
          </a:solidFill>
          <a:ln>
            <a:solidFill>
              <a:schemeClr val="accent6">
                <a:lumMod val="40000"/>
                <a:lumOff val="60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BOS III darajali bolalar (36 nafar):</a:t>
            </a:r>
          </a:p>
          <a:p>
            <a:pPr algn="ctr">
              <a:defRPr/>
            </a:pPr>
            <a:r>
              <a:rPr lang="en-US" sz="1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 guruh – 17 bemor</a:t>
            </a:r>
          </a:p>
          <a:p>
            <a:pPr algn="ctr">
              <a:defRPr/>
            </a:pPr>
            <a:r>
              <a:rPr lang="en-US" sz="1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II guruh - 19 bemor</a:t>
            </a:r>
          </a:p>
        </p:txBody>
      </p:sp>
      <p:graphicFrame>
        <p:nvGraphicFramePr>
          <p:cNvPr id="42" name="Схема 41"/>
          <p:cNvGraphicFramePr/>
          <p:nvPr>
            <p:extLst>
              <p:ext uri="{D42A27DB-BD31-4B8C-83A1-F6EECF244321}">
                <p14:modId xmlns:p14="http://schemas.microsoft.com/office/powerpoint/2010/main" val="1008614860"/>
              </p:ext>
            </p:extLst>
          </p:nvPr>
        </p:nvGraphicFramePr>
        <p:xfrm>
          <a:off x="4038600" y="184699"/>
          <a:ext cx="4003963" cy="6894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Скругленный прямоугольник 13"/>
          <p:cNvSpPr/>
          <p:nvPr/>
        </p:nvSpPr>
        <p:spPr>
          <a:xfrm>
            <a:off x="921327" y="2510429"/>
            <a:ext cx="5008418" cy="1513488"/>
          </a:xfrm>
          <a:prstGeom prst="roundRect">
            <a:avLst/>
          </a:prstGeom>
          <a:solidFill>
            <a:srgbClr val="FFCCCC"/>
          </a:solidFill>
          <a:ln>
            <a:solidFill>
              <a:schemeClr val="accent6">
                <a:lumMod val="40000"/>
                <a:lumOff val="60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ru-RU" sz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I guruh – faqat bazis terapiya olgan BOS II darajali 24 bemor: (gipoallergik parhez; bronxolitik terapiya; β2-agonistlar bilan nebulayzer terapiya; antigistamin preparatlar; IGKS; 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balgʼamko'chiruvchi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 preparatlar; mukolitik preparatlar;</a:t>
            </a:r>
          </a:p>
          <a:p>
            <a:pPr>
              <a:defRPr/>
            </a:pPr>
            <a:endParaRPr lang="ru-RU" sz="1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6597677" y="2538349"/>
            <a:ext cx="5081705" cy="1513488"/>
          </a:xfrm>
          <a:prstGeom prst="roundRect">
            <a:avLst/>
          </a:prstGeom>
          <a:solidFill>
            <a:srgbClr val="FFCCCC"/>
          </a:solidFill>
          <a:ln>
            <a:solidFill>
              <a:schemeClr val="accent6">
                <a:lumMod val="40000"/>
                <a:lumOff val="60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ru-RU" sz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I guruh – faqat bazis terapiya olgan BOS III darajali 17 bemor: (gipoallergik parhez; bronxolitik terapiya; β2-agonistlar bilan nebulayzer terapiya; antigistamin preparatlar; IGKS; 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balgʼamko'chiruvchi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 preparatlar; mukolitik preparatlar;</a:t>
            </a:r>
          </a:p>
          <a:p>
            <a:pPr>
              <a:defRPr/>
            </a:pPr>
            <a:endParaRPr lang="ru-RU" sz="1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Скругленный прямоугольник 15"/>
          <p:cNvSpPr/>
          <p:nvPr/>
        </p:nvSpPr>
        <p:spPr>
          <a:xfrm>
            <a:off x="6623097" y="4346582"/>
            <a:ext cx="5230674" cy="1910819"/>
          </a:xfrm>
          <a:prstGeom prst="roundRect">
            <a:avLst/>
          </a:prstGeom>
          <a:solidFill>
            <a:srgbClr val="FBC1FF"/>
          </a:solidFill>
          <a:ln>
            <a:solidFill>
              <a:schemeClr val="accent6">
                <a:lumMod val="40000"/>
                <a:lumOff val="60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II guruh – gipoallergik parhez 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fonida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balgʼamko'chiruvchi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 va mukolitik preparatlar, bronxolitik preparat doksofillin (puroksan) + IGKS Nebuflyuzon (faol modda – flutikazon – kuniga 1 mahal 1 mg 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inhalyatsiya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ko'rinishida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 buyuriladi) qabul qilgan BOS III darajali 19 bemor, 14 kun davomida</a:t>
            </a:r>
          </a:p>
        </p:txBody>
      </p:sp>
      <p:sp>
        <p:nvSpPr>
          <p:cNvPr id="18" name="Стрелка вниз 17"/>
          <p:cNvSpPr/>
          <p:nvPr/>
        </p:nvSpPr>
        <p:spPr>
          <a:xfrm>
            <a:off x="2880446" y="4077664"/>
            <a:ext cx="385450" cy="188239"/>
          </a:xfrm>
          <a:prstGeom prst="down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>
              <a:solidFill>
                <a:schemeClr val="tx1"/>
              </a:solidFill>
            </a:endParaRPr>
          </a:p>
        </p:txBody>
      </p:sp>
      <p:sp>
        <p:nvSpPr>
          <p:cNvPr id="19" name="Стрелка вниз 18"/>
          <p:cNvSpPr/>
          <p:nvPr/>
        </p:nvSpPr>
        <p:spPr>
          <a:xfrm>
            <a:off x="9138529" y="4105090"/>
            <a:ext cx="385450" cy="188239"/>
          </a:xfrm>
          <a:prstGeom prst="down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8871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5640" y="648071"/>
            <a:ext cx="11420719" cy="648071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Davolashdan keyin bolalarda asosiy klinik simptomlarning dinamikasi, (kunlar)</a:t>
            </a:r>
            <a:endParaRPr lang="ru-RU" sz="2800" b="1" dirty="0">
              <a:solidFill>
                <a:srgbClr val="002060"/>
              </a:solidFill>
            </a:endParaRPr>
          </a:p>
        </p:txBody>
      </p:sp>
      <p:graphicFrame>
        <p:nvGraphicFramePr>
          <p:cNvPr id="4" name="Объект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919642"/>
              </p:ext>
            </p:extLst>
          </p:nvPr>
        </p:nvGraphicFramePr>
        <p:xfrm>
          <a:off x="-53266" y="648071"/>
          <a:ext cx="12126897" cy="53887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10757517" y="1181842"/>
            <a:ext cx="11430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sz="1400" dirty="0">
                <a:solidFill>
                  <a:srgbClr val="25178D"/>
                </a:solidFill>
                <a:latin typeface="Times New Roman" pitchFamily="18" charset="0"/>
                <a:cs typeface="Times New Roman" pitchFamily="18" charset="0"/>
              </a:rPr>
              <a:t>P&lt;0,01</a:t>
            </a:r>
          </a:p>
        </p:txBody>
      </p:sp>
    </p:spTree>
    <p:extLst>
      <p:ext uri="{BB962C8B-B14F-4D97-AF65-F5344CB8AC3E}">
        <p14:creationId xmlns:p14="http://schemas.microsoft.com/office/powerpoint/2010/main" val="3967829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Диаграмма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0638366"/>
              </p:ext>
            </p:extLst>
          </p:nvPr>
        </p:nvGraphicFramePr>
        <p:xfrm>
          <a:off x="0" y="789140"/>
          <a:ext cx="6217921" cy="54738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Диаграмма 2"/>
          <p:cNvGraphicFramePr/>
          <p:nvPr>
            <p:extLst>
              <p:ext uri="{D42A27DB-BD31-4B8C-83A1-F6EECF244321}">
                <p14:modId xmlns:p14="http://schemas.microsoft.com/office/powerpoint/2010/main" val="2826658039"/>
              </p:ext>
            </p:extLst>
          </p:nvPr>
        </p:nvGraphicFramePr>
        <p:xfrm>
          <a:off x="5871412" y="261036"/>
          <a:ext cx="6217920" cy="60019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-150312" y="241317"/>
            <a:ext cx="61720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705" algn="ctr">
              <a:spcAft>
                <a:spcPts val="0"/>
              </a:spcAft>
            </a:pP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Davolashdan keyin BOSli bolalarda gumoral </a:t>
            </a:r>
            <a:r>
              <a:rPr lang="ru-RU" b="1" dirty="0" err="1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immunitet</a:t>
            </a: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k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o'</a:t>
            </a:r>
            <a:r>
              <a:rPr lang="ru-RU" b="1" dirty="0" err="1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rsatkichlari</a:t>
            </a: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dinamikasi, (M±m)</a:t>
            </a:r>
            <a:endParaRPr lang="ru-RU" dirty="0">
              <a:solidFill>
                <a:srgbClr val="00206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871411" y="300473"/>
            <a:ext cx="549415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80340" algn="ctr">
              <a:spcAft>
                <a:spcPts val="0"/>
              </a:spcAft>
            </a:pP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Davolashdan keyin BOSli </a:t>
            </a:r>
          </a:p>
          <a:p>
            <a:pPr indent="180340" algn="ctr">
              <a:spcAft>
                <a:spcPts val="0"/>
              </a:spcAft>
            </a:pP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bolalarda </a:t>
            </a:r>
            <a:r>
              <a:rPr lang="ru-RU" b="1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sitokin</a:t>
            </a: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k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o'</a:t>
            </a:r>
            <a:r>
              <a:rPr lang="ru-RU" b="1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rsatkichlari</a:t>
            </a: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dinamikasi, (Mm)</a:t>
            </a:r>
            <a:endParaRPr lang="ru-RU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042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CAA2F8D-0E5D-4CB5-BCC7-C150094F9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905667" cy="1450757"/>
          </a:xfrm>
        </p:spPr>
        <p:txBody>
          <a:bodyPr>
            <a:normAutofit fontScale="90000"/>
          </a:bodyPr>
          <a:lstStyle/>
          <a:p>
            <a:r>
              <a:rPr lang="ru-RU" sz="4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Davolashdan</a:t>
            </a:r>
            <a:r>
              <a:rPr lang="ru-RU" sz="4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keyin</a:t>
            </a:r>
            <a:r>
              <a:rPr lang="ru-RU" sz="4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BOSli</a:t>
            </a:r>
            <a:r>
              <a:rPr lang="ru-RU" sz="4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bolalarda</a:t>
            </a:r>
            <a:r>
              <a:rPr lang="ru-RU" sz="4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KBFG </a:t>
            </a:r>
            <a:r>
              <a:rPr lang="ru-RU" sz="4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akustik</a:t>
            </a:r>
            <a:r>
              <a:rPr lang="ru-RU" sz="4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komponenti</a:t>
            </a:r>
            <a:r>
              <a:rPr lang="ru-RU" sz="4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dinamikasi</a:t>
            </a:r>
            <a:r>
              <a:rPr lang="ru-RU" sz="4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4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mPa</a:t>
            </a:r>
            <a:r>
              <a:rPr lang="ru-RU" sz="4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ru-RU" sz="4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M±m</a:t>
            </a:r>
            <a:r>
              <a:rPr lang="ru-RU" sz="4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/>
          </a:p>
        </p:txBody>
      </p:sp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xmlns="" id="{D7EB0D52-E79D-47ED-9D53-30F6AC9D60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3288452"/>
              </p:ext>
            </p:extLst>
          </p:nvPr>
        </p:nvGraphicFramePr>
        <p:xfrm>
          <a:off x="232229" y="1978111"/>
          <a:ext cx="11553371" cy="41448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40721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1429" y="855164"/>
            <a:ext cx="11829142" cy="509133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Davolashdan keyin BOSli bolalarda KBFG akustik komponenti dinamikasi (mPa) (M±m)</a:t>
            </a:r>
          </a:p>
        </p:txBody>
      </p:sp>
      <p:graphicFrame>
        <p:nvGraphicFramePr>
          <p:cNvPr id="8" name="Объект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9468938"/>
              </p:ext>
            </p:extLst>
          </p:nvPr>
        </p:nvGraphicFramePr>
        <p:xfrm>
          <a:off x="391886" y="1732899"/>
          <a:ext cx="11248572" cy="36001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21549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трелка вниз 6">
            <a:extLst>
              <a:ext uri="{FF2B5EF4-FFF2-40B4-BE49-F238E27FC236}">
                <a16:creationId xmlns:a16="http://schemas.microsoft.com/office/drawing/2014/main" xmlns="" id="{35EC4DB7-7DD1-3433-367C-50304F5FE131}"/>
              </a:ext>
            </a:extLst>
          </p:cNvPr>
          <p:cNvSpPr/>
          <p:nvPr/>
        </p:nvSpPr>
        <p:spPr>
          <a:xfrm>
            <a:off x="5866513" y="3408750"/>
            <a:ext cx="288925" cy="186055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6" name="Скругленный прямоугольник 16">
            <a:extLst>
              <a:ext uri="{FF2B5EF4-FFF2-40B4-BE49-F238E27FC236}">
                <a16:creationId xmlns:a16="http://schemas.microsoft.com/office/drawing/2014/main" xmlns="" id="{C52013D6-A9E1-C93F-C00A-CF3769D8F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9737" y="968014"/>
            <a:ext cx="10561935" cy="644672"/>
          </a:xfrm>
          <a:prstGeom prst="roundRect">
            <a:avLst>
              <a:gd name="adj" fmla="val 45250"/>
            </a:avLst>
          </a:prstGeom>
          <a:solidFill>
            <a:srgbClr val="FAE2D5"/>
          </a:solidFill>
          <a:ln w="19050">
            <a:solidFill>
              <a:srgbClr val="0A2F4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1. Bolani «Bolalarda BOS rivojlanish xavfi shkalasi» b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o'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yicha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baholash natijalarini kiritish (akusherlik anamnezi, peri- va intranatal anamnez, chaqaloqni tugʼruqxonada baholash, allergik kasalliklarga irsiy moyillik, ovqatlantirish xarakteri va BOSli bolaning fon holati</a:t>
            </a: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Стрелка вниз 24">
            <a:extLst>
              <a:ext uri="{FF2B5EF4-FFF2-40B4-BE49-F238E27FC236}">
                <a16:creationId xmlns:a16="http://schemas.microsoft.com/office/drawing/2014/main" xmlns="" id="{83A99964-910D-4B9E-B1CB-4BBE75101541}"/>
              </a:ext>
            </a:extLst>
          </p:cNvPr>
          <p:cNvSpPr/>
          <p:nvPr/>
        </p:nvSpPr>
        <p:spPr>
          <a:xfrm>
            <a:off x="5897785" y="3988064"/>
            <a:ext cx="278130" cy="168275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8" name="Скругленный прямоугольник 30">
            <a:extLst>
              <a:ext uri="{FF2B5EF4-FFF2-40B4-BE49-F238E27FC236}">
                <a16:creationId xmlns:a16="http://schemas.microsoft.com/office/drawing/2014/main" xmlns="" id="{691BA6C9-AFA5-011B-79FC-5F4B4476B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0144" y="1775803"/>
            <a:ext cx="7773411" cy="338747"/>
          </a:xfrm>
          <a:prstGeom prst="roundRect">
            <a:avLst>
              <a:gd name="adj" fmla="val 45250"/>
            </a:avLst>
          </a:prstGeom>
          <a:solidFill>
            <a:srgbClr val="FAE2D5"/>
          </a:solidFill>
          <a:ln w="19050">
            <a:solidFill>
              <a:srgbClr val="0A2F4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BOSli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bolalarda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respirator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buzilishlar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ogʼirlik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darajasini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«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Klinik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respirator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shkala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» b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o'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yicha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baholash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Стрелка вниз 200">
            <a:extLst>
              <a:ext uri="{FF2B5EF4-FFF2-40B4-BE49-F238E27FC236}">
                <a16:creationId xmlns:a16="http://schemas.microsoft.com/office/drawing/2014/main" xmlns="" id="{C2829201-9898-268B-1B5E-F2159BE23F46}"/>
              </a:ext>
            </a:extLst>
          </p:cNvPr>
          <p:cNvSpPr/>
          <p:nvPr/>
        </p:nvSpPr>
        <p:spPr>
          <a:xfrm>
            <a:off x="5718730" y="714392"/>
            <a:ext cx="500003" cy="20370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0" name="Скругленный прямоугольник 202">
            <a:extLst>
              <a:ext uri="{FF2B5EF4-FFF2-40B4-BE49-F238E27FC236}">
                <a16:creationId xmlns:a16="http://schemas.microsoft.com/office/drawing/2014/main" xmlns="" id="{6EBBEDF7-7532-4C1E-90C9-5B8080CE8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8442" y="2329041"/>
            <a:ext cx="9349186" cy="372814"/>
          </a:xfrm>
          <a:prstGeom prst="roundRect">
            <a:avLst>
              <a:gd name="adj" fmla="val 45250"/>
            </a:avLst>
          </a:prstGeom>
          <a:solidFill>
            <a:srgbClr val="FAE2D5"/>
          </a:solidFill>
          <a:ln w="19050">
            <a:solidFill>
              <a:srgbClr val="0A2F4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 Nafas olish faoliyatining akustik komponentini kompyuter bronxofonografiyasi va «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YuCh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indeksi» yordamida baholash 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Стрелка вниз 203">
            <a:extLst>
              <a:ext uri="{FF2B5EF4-FFF2-40B4-BE49-F238E27FC236}">
                <a16:creationId xmlns:a16="http://schemas.microsoft.com/office/drawing/2014/main" xmlns="" id="{440DACF4-1B8B-D9B3-0FF7-BE5D3D357150}"/>
              </a:ext>
            </a:extLst>
          </p:cNvPr>
          <p:cNvSpPr/>
          <p:nvPr/>
        </p:nvSpPr>
        <p:spPr>
          <a:xfrm>
            <a:off x="10304895" y="4009540"/>
            <a:ext cx="349250" cy="164465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2" name="Стрелка вниз 207">
            <a:extLst>
              <a:ext uri="{FF2B5EF4-FFF2-40B4-BE49-F238E27FC236}">
                <a16:creationId xmlns:a16="http://schemas.microsoft.com/office/drawing/2014/main" xmlns="" id="{6C161AE8-11BA-5011-EFFC-21D23A9AFE01}"/>
              </a:ext>
            </a:extLst>
          </p:cNvPr>
          <p:cNvSpPr/>
          <p:nvPr/>
        </p:nvSpPr>
        <p:spPr>
          <a:xfrm>
            <a:off x="5922347" y="5149372"/>
            <a:ext cx="273774" cy="158575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4" name="Скругленный прямоугольник 216">
            <a:extLst>
              <a:ext uri="{FF2B5EF4-FFF2-40B4-BE49-F238E27FC236}">
                <a16:creationId xmlns:a16="http://schemas.microsoft.com/office/drawing/2014/main" xmlns="" id="{0E5FEF1D-9C02-0819-B560-68E5B26AF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9431" y="4216359"/>
            <a:ext cx="3522351" cy="889189"/>
          </a:xfrm>
          <a:prstGeom prst="roundRect">
            <a:avLst>
              <a:gd name="adj" fmla="val 16667"/>
            </a:avLst>
          </a:prstGeom>
          <a:solidFill>
            <a:srgbClr val="CAEDFB"/>
          </a:solidFill>
          <a:ln w="19050">
            <a:solidFill>
              <a:srgbClr val="0A2F4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80975" algn="l"/>
              </a:tabLst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Bazis terapiyaga (bolalarda OOB va BLni davolash standartlariga muvofiq) bronxolitik preparat puroksan (doksofillin) sirop, har 5 kg vaznga 1 ml dan kuniga 2–3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mahal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q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o'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shiladi</a:t>
            </a: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Скругленный прямоугольник 8">
            <a:extLst>
              <a:ext uri="{FF2B5EF4-FFF2-40B4-BE49-F238E27FC236}">
                <a16:creationId xmlns:a16="http://schemas.microsoft.com/office/drawing/2014/main" xmlns="" id="{C542F411-5BBF-CB2B-6EDA-777704092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6277" y="2975590"/>
            <a:ext cx="8540831" cy="438436"/>
          </a:xfrm>
          <a:prstGeom prst="roundRect">
            <a:avLst>
              <a:gd name="adj" fmla="val 50000"/>
            </a:avLst>
          </a:prstGeom>
          <a:solidFill>
            <a:srgbClr val="FAE2D5"/>
          </a:solidFill>
          <a:ln w="19050">
            <a:solidFill>
              <a:srgbClr val="0A2F4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4. Immun statusni baholash (gumoral: IgA, M, G, E; sitokin: TNFα, IL–4, IFNγ, IL–8, IL-1β)</a:t>
            </a:r>
            <a:endParaRPr kumimoji="0" lang="en-US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Стрелка вниз 9">
            <a:extLst>
              <a:ext uri="{FF2B5EF4-FFF2-40B4-BE49-F238E27FC236}">
                <a16:creationId xmlns:a16="http://schemas.microsoft.com/office/drawing/2014/main" xmlns="" id="{33DFAC0A-A6D4-D48E-EE0C-45C6228CBCC7}"/>
              </a:ext>
            </a:extLst>
          </p:cNvPr>
          <p:cNvSpPr/>
          <p:nvPr/>
        </p:nvSpPr>
        <p:spPr>
          <a:xfrm>
            <a:off x="1702147" y="5129109"/>
            <a:ext cx="314238" cy="162335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7" name="Стрелка вниз 11">
            <a:extLst>
              <a:ext uri="{FF2B5EF4-FFF2-40B4-BE49-F238E27FC236}">
                <a16:creationId xmlns:a16="http://schemas.microsoft.com/office/drawing/2014/main" xmlns="" id="{8B146BB1-DF22-DC52-B58C-5557D37A108F}"/>
              </a:ext>
            </a:extLst>
          </p:cNvPr>
          <p:cNvSpPr/>
          <p:nvPr/>
        </p:nvSpPr>
        <p:spPr>
          <a:xfrm>
            <a:off x="5844413" y="2761875"/>
            <a:ext cx="351707" cy="21217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8" name="Скругленный прямоугольник 14">
            <a:extLst>
              <a:ext uri="{FF2B5EF4-FFF2-40B4-BE49-F238E27FC236}">
                <a16:creationId xmlns:a16="http://schemas.microsoft.com/office/drawing/2014/main" xmlns="" id="{050806B4-9449-9592-8025-11FE42F346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4959" y="3617156"/>
            <a:ext cx="9619349" cy="348557"/>
          </a:xfrm>
          <a:prstGeom prst="roundRect">
            <a:avLst>
              <a:gd name="adj" fmla="val 0"/>
            </a:avLst>
          </a:prstGeom>
          <a:solidFill>
            <a:srgbClr val="C1F0C7"/>
          </a:solidFill>
          <a:ln w="19050">
            <a:solidFill>
              <a:srgbClr val="0A2F4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Umumiy ball sonini hisoblash, ogʼirlik darajasini baholash va BOS terapiyasini tanlash 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Скругленный прямоугольник 221">
            <a:extLst>
              <a:ext uri="{FF2B5EF4-FFF2-40B4-BE49-F238E27FC236}">
                <a16:creationId xmlns:a16="http://schemas.microsoft.com/office/drawing/2014/main" xmlns="" id="{BDBED4CD-F0BD-7EFD-AABC-C5047DFFD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9809" y="4200736"/>
            <a:ext cx="3591528" cy="882839"/>
          </a:xfrm>
          <a:prstGeom prst="roundRect">
            <a:avLst>
              <a:gd name="adj" fmla="val 16667"/>
            </a:avLst>
          </a:prstGeom>
          <a:solidFill>
            <a:srgbClr val="CAEDFB"/>
          </a:solidFill>
          <a:ln w="19050">
            <a:solidFill>
              <a:srgbClr val="0A2F4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80975" algn="l"/>
              </a:tabLst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Bazis terapiyaga (bolalarda OOB va BLni davolash standartlariga muvofiq) puroksan (doksofillin) sirop, har 5 kg vaznga 1 ml dan kuniga 2–3 mahal va IGKS nebuflyuzon (flutikazon) (kuniga 1 mahal 1 mg)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kombinatsiyasini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q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o'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shish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Стрелка вниз 227">
            <a:extLst>
              <a:ext uri="{FF2B5EF4-FFF2-40B4-BE49-F238E27FC236}">
                <a16:creationId xmlns:a16="http://schemas.microsoft.com/office/drawing/2014/main" xmlns="" id="{CEA7CB9B-01EC-C55A-E0B0-7DCD9267EEB3}"/>
              </a:ext>
            </a:extLst>
          </p:cNvPr>
          <p:cNvSpPr/>
          <p:nvPr/>
        </p:nvSpPr>
        <p:spPr>
          <a:xfrm>
            <a:off x="5785852" y="1595024"/>
            <a:ext cx="365760" cy="17272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21" name="Стрелка вниз 228">
            <a:extLst>
              <a:ext uri="{FF2B5EF4-FFF2-40B4-BE49-F238E27FC236}">
                <a16:creationId xmlns:a16="http://schemas.microsoft.com/office/drawing/2014/main" xmlns="" id="{E6DC8478-9164-D727-1582-49C36B742BCE}"/>
              </a:ext>
            </a:extLst>
          </p:cNvPr>
          <p:cNvSpPr/>
          <p:nvPr/>
        </p:nvSpPr>
        <p:spPr>
          <a:xfrm>
            <a:off x="10237411" y="5110307"/>
            <a:ext cx="319405" cy="198755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22" name="Скругленный прямоугольник 232">
            <a:extLst>
              <a:ext uri="{FF2B5EF4-FFF2-40B4-BE49-F238E27FC236}">
                <a16:creationId xmlns:a16="http://schemas.microsoft.com/office/drawing/2014/main" xmlns="" id="{C24470F2-C4E6-3860-6BB8-D9F5853658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774" y="4245918"/>
            <a:ext cx="2912367" cy="847562"/>
          </a:xfrm>
          <a:prstGeom prst="roundRect">
            <a:avLst>
              <a:gd name="adj" fmla="val 16667"/>
            </a:avLst>
          </a:prstGeom>
          <a:solidFill>
            <a:srgbClr val="CAEDFB"/>
          </a:solidFill>
          <a:ln w="19050">
            <a:solidFill>
              <a:srgbClr val="0A2F4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80975" algn="l"/>
              </a:tabLst>
            </a:pP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Bolani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o'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tkir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obstruktiv bronxit va bronxiolitni davolash standartlariga muvofiq yuritish</a:t>
            </a: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Скругленный прямоугольник 245">
            <a:extLst>
              <a:ext uri="{FF2B5EF4-FFF2-40B4-BE49-F238E27FC236}">
                <a16:creationId xmlns:a16="http://schemas.microsoft.com/office/drawing/2014/main" xmlns="" id="{FD0BF243-0B3A-D227-9399-3A6A5465C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285" y="5327073"/>
            <a:ext cx="3835977" cy="915467"/>
          </a:xfrm>
          <a:prstGeom prst="roundRect">
            <a:avLst>
              <a:gd name="adj" fmla="val 16667"/>
            </a:avLst>
          </a:prstGeom>
          <a:solidFill>
            <a:srgbClr val="CAEDFB"/>
          </a:solidFill>
          <a:ln w="19050">
            <a:solidFill>
              <a:srgbClr val="0A2F4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Xavf omillaridan qochish va bolaning immunitetini mustahkamlash. Vaksina bilan boshqariladigan virusli infeksiyalarga qarshi faol immunizatsiya. Surunkali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infeksiya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o'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choqlarini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sanatsiya qilish; chiniqtirish.</a:t>
            </a: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Скругленный прямоугольник 242">
            <a:extLst>
              <a:ext uri="{FF2B5EF4-FFF2-40B4-BE49-F238E27FC236}">
                <a16:creationId xmlns:a16="http://schemas.microsoft.com/office/drawing/2014/main" xmlns="" id="{BCB327BD-4AB9-7AFD-6C5A-3B71246D5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2617" y="5327072"/>
            <a:ext cx="3920837" cy="915467"/>
          </a:xfrm>
          <a:prstGeom prst="roundRect">
            <a:avLst>
              <a:gd name="adj" fmla="val 16667"/>
            </a:avLst>
          </a:prstGeom>
          <a:solidFill>
            <a:srgbClr val="CAEDFB"/>
          </a:solidFill>
          <a:ln w="19050">
            <a:solidFill>
              <a:srgbClr val="0A2F4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80975" algn="l"/>
              </a:tabLst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Xavf omillarini bartaraf etish va bolaning immunitetini mustahkamlash. Vaksina bilan boshqariladigan virusli infeksiyalarga qarshi faol immunizatsiya. Surunkali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infeksiya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o'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choqlarini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sanatsiya qilish; chiniqtirish, jismoniy tarbiya (LFK)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Стрелка вниз 247">
            <a:extLst>
              <a:ext uri="{FF2B5EF4-FFF2-40B4-BE49-F238E27FC236}">
                <a16:creationId xmlns:a16="http://schemas.microsoft.com/office/drawing/2014/main" xmlns="" id="{16FAC130-8E5A-7624-7B0A-B2799C1BE4A0}"/>
              </a:ext>
            </a:extLst>
          </p:cNvPr>
          <p:cNvSpPr/>
          <p:nvPr/>
        </p:nvSpPr>
        <p:spPr>
          <a:xfrm flipH="1">
            <a:off x="1702147" y="3975365"/>
            <a:ext cx="322580" cy="193675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26" name="Скругленный прямоугольник 243">
            <a:extLst>
              <a:ext uri="{FF2B5EF4-FFF2-40B4-BE49-F238E27FC236}">
                <a16:creationId xmlns:a16="http://schemas.microsoft.com/office/drawing/2014/main" xmlns="" id="{96137E08-6912-11BE-D78E-8CB5A5BD63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9808" y="5327072"/>
            <a:ext cx="3582145" cy="915467"/>
          </a:xfrm>
          <a:prstGeom prst="roundRect">
            <a:avLst>
              <a:gd name="adj" fmla="val 16667"/>
            </a:avLst>
          </a:prstGeom>
          <a:solidFill>
            <a:srgbClr val="CAEDFB"/>
          </a:solidFill>
          <a:ln w="19050">
            <a:solidFill>
              <a:srgbClr val="0A2F4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Vaksina bilan boshqariladigan virusli infeksiyalarga qarshi faol immunizatsiya. Surunkali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infeksiya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o'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choqlarini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sanatsiya qilish; chiniqtirish, jismoniy tarbiya (LFK), k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o'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krak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qafasi massaji, fizioterapiya, immunomodulyatorlar qabul qilish</a:t>
            </a: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Стрелка вниз 249">
            <a:extLst>
              <a:ext uri="{FF2B5EF4-FFF2-40B4-BE49-F238E27FC236}">
                <a16:creationId xmlns:a16="http://schemas.microsoft.com/office/drawing/2014/main" xmlns="" id="{7C44F4F1-4CD7-2442-1F2B-A3B4F560146C}"/>
              </a:ext>
            </a:extLst>
          </p:cNvPr>
          <p:cNvSpPr/>
          <p:nvPr/>
        </p:nvSpPr>
        <p:spPr>
          <a:xfrm>
            <a:off x="5785852" y="2146845"/>
            <a:ext cx="410268" cy="186056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31" name="Rectangle 27">
            <a:extLst>
              <a:ext uri="{FF2B5EF4-FFF2-40B4-BE49-F238E27FC236}">
                <a16:creationId xmlns:a16="http://schemas.microsoft.com/office/drawing/2014/main" xmlns="" id="{A45D8757-D094-353B-5823-F8371A76B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3437" y="43641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940425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940425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940425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940425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940425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940425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940425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940425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940425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940425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endParaRPr kumimoji="0" lang="ru-RU" altLang="ru-RU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940425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Rectangle 29">
            <a:extLst>
              <a:ext uri="{FF2B5EF4-FFF2-40B4-BE49-F238E27FC236}">
                <a16:creationId xmlns:a16="http://schemas.microsoft.com/office/drawing/2014/main" xmlns="" id="{315648FC-ADB8-5335-8D60-FA9DD07D1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3437" y="89361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Rectangle 31">
            <a:extLst>
              <a:ext uri="{FF2B5EF4-FFF2-40B4-BE49-F238E27FC236}">
                <a16:creationId xmlns:a16="http://schemas.microsoft.com/office/drawing/2014/main" xmlns="" id="{022C29F2-A38F-D270-4CF1-E9070CE64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3437" y="89361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2113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2113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2113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2113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2113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2113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2113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2113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2113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11388" algn="l"/>
              </a:tabLst>
            </a:pPr>
            <a:endParaRPr kumimoji="0" lang="en-US" altLang="ru-RU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11388" algn="l"/>
              </a:tabLst>
            </a:pPr>
            <a:r>
              <a:rPr kumimoji="0" lang="en-US" altLang="ru-RU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endParaRPr kumimoji="0" lang="ru-RU" altLang="ru-RU" sz="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11388" algn="l"/>
              </a:tabLst>
            </a:pP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DC7EAA46-7D8D-41C8-03B9-AE9F160EE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3437" y="89361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xmlns="" id="{8313FE13-62D8-D3F1-80B8-9183C49D37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7345" y="89361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3359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3359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3359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3359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3359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359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359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359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359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359150" algn="l"/>
              </a:tabLst>
            </a:pP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endParaRPr kumimoji="0" lang="ru-RU" altLang="ru-RU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359150" algn="l"/>
              </a:tabLst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Rectangle 44">
            <a:extLst>
              <a:ext uri="{FF2B5EF4-FFF2-40B4-BE49-F238E27FC236}">
                <a16:creationId xmlns:a16="http://schemas.microsoft.com/office/drawing/2014/main" xmlns="" id="{4BD7214D-C0A2-B294-779A-9F42A67903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5109" y="106784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xmlns="" id="{9145F25F-5016-9F2E-1167-32FD7A6B394F}"/>
              </a:ext>
            </a:extLst>
          </p:cNvPr>
          <p:cNvSpPr/>
          <p:nvPr/>
        </p:nvSpPr>
        <p:spPr>
          <a:xfrm>
            <a:off x="557839" y="255194"/>
            <a:ext cx="11187545" cy="44923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Sunʼiy </a:t>
            </a:r>
            <a:r>
              <a:rPr 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intellektni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o'</a:t>
            </a:r>
            <a:r>
              <a:rPr 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llagan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holda BOSli bolalarni tashxislash, yuritish taktikasi va davolash algoritmi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940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A0A968D8-76FB-20AF-E896-E29ADEBC01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968" b="388"/>
          <a:stretch>
            <a:fillRect/>
          </a:stretch>
        </p:blipFill>
        <p:spPr bwMode="auto">
          <a:xfrm>
            <a:off x="7184571" y="412207"/>
            <a:ext cx="4463143" cy="577813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Picture 1">
            <a:extLst>
              <a:ext uri="{FF2B5EF4-FFF2-40B4-BE49-F238E27FC236}">
                <a16:creationId xmlns:a16="http://schemas.microsoft.com/office/drawing/2014/main" xmlns="" id="{643935E3-9BDB-F1B2-04F7-D581AA24E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102" y="262543"/>
            <a:ext cx="5855832" cy="2808560"/>
          </a:xfrm>
          <a:prstGeom prst="rect">
            <a:avLst/>
          </a:prstGeom>
        </p:spPr>
      </p:pic>
      <p:pic>
        <p:nvPicPr>
          <p:cNvPr id="4" name="Picture 1">
            <a:extLst>
              <a:ext uri="{FF2B5EF4-FFF2-40B4-BE49-F238E27FC236}">
                <a16:creationId xmlns:a16="http://schemas.microsoft.com/office/drawing/2014/main" xmlns="" id="{8DC06ACA-1EF9-40FE-EB7A-79EDD6BA06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102" y="3320097"/>
            <a:ext cx="5855832" cy="290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196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AD5896D0-DC02-441D-58D2-109BD127FCCA}"/>
              </a:ext>
            </a:extLst>
          </p:cNvPr>
          <p:cNvSpPr txBox="1"/>
          <p:nvPr/>
        </p:nvSpPr>
        <p:spPr>
          <a:xfrm>
            <a:off x="762000" y="569663"/>
            <a:ext cx="105571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Tekshirilgan guruhda SI dasturi samaradorligini modullar mos kelishi </a:t>
            </a:r>
            <a:r>
              <a:rPr lang="ru-RU" sz="2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natijalari</a:t>
            </a:r>
            <a:r>
              <a:rPr lang="ru-RU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o'</a:t>
            </a:r>
            <a:r>
              <a:rPr lang="ru-RU" sz="2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yicha</a:t>
            </a:r>
            <a:r>
              <a:rPr lang="ru-RU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baholash, %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xmlns="" id="{5FF9907C-86D3-4E31-B978-777572EF79E5}"/>
              </a:ext>
            </a:extLst>
          </p:cNvPr>
          <p:cNvGrpSpPr/>
          <p:nvPr/>
        </p:nvGrpSpPr>
        <p:grpSpPr>
          <a:xfrm>
            <a:off x="623455" y="1288473"/>
            <a:ext cx="11028218" cy="4717472"/>
            <a:chOff x="623455" y="1288473"/>
            <a:chExt cx="11028218" cy="4717472"/>
          </a:xfrm>
        </p:grpSpPr>
        <p:graphicFrame>
          <p:nvGraphicFramePr>
            <p:cNvPr id="2" name="Диаграмма 1">
              <a:extLst>
                <a:ext uri="{FF2B5EF4-FFF2-40B4-BE49-F238E27FC236}">
                  <a16:creationId xmlns:a16="http://schemas.microsoft.com/office/drawing/2014/main" xmlns="" id="{00000000-0008-0000-0500-000002000000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832652110"/>
                </p:ext>
              </p:extLst>
            </p:nvPr>
          </p:nvGraphicFramePr>
          <p:xfrm>
            <a:off x="623455" y="1288473"/>
            <a:ext cx="11028218" cy="471747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3" name="Прямоугольник 2">
              <a:extLst>
                <a:ext uri="{FF2B5EF4-FFF2-40B4-BE49-F238E27FC236}">
                  <a16:creationId xmlns:a16="http://schemas.microsoft.com/office/drawing/2014/main" xmlns="" id="{DCDE12E1-6B1B-4A52-AC1F-2561251909F8}"/>
                </a:ext>
              </a:extLst>
            </p:cNvPr>
            <p:cNvSpPr/>
            <p:nvPr/>
          </p:nvSpPr>
          <p:spPr>
            <a:xfrm>
              <a:off x="6926444" y="5108596"/>
              <a:ext cx="1100565" cy="213542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50" b="1" cap="all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Tavsiya</a:t>
              </a:r>
              <a:endParaRPr lang="en-US" sz="1050" b="1" cap="all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71191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xmlns="" id="{2706847F-A10D-0747-3001-2F5EDC450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80656"/>
            <a:ext cx="10363200" cy="51344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C5DF7056-A334-9EB3-4BF2-D514699312F7}"/>
              </a:ext>
            </a:extLst>
          </p:cNvPr>
          <p:cNvSpPr txBox="1"/>
          <p:nvPr/>
        </p:nvSpPr>
        <p:spPr>
          <a:xfrm>
            <a:off x="526474" y="438044"/>
            <a:ext cx="113815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500"/>
              </a:spcAft>
              <a:buNone/>
            </a:pPr>
            <a: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OOB va bronxiolit uchun tashxis qarorlari matritsasi va kategorik ROC-egri chiziqlari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1542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xmlns="" id="{228BCC60-E2B1-69E1-408F-9C3277895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082" y="1253836"/>
            <a:ext cx="11159836" cy="49721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22ED0EDF-B399-7F56-9CF8-3427586D58AA}"/>
              </a:ext>
            </a:extLst>
          </p:cNvPr>
          <p:cNvSpPr txBox="1"/>
          <p:nvPr/>
        </p:nvSpPr>
        <p:spPr>
          <a:xfrm>
            <a:off x="630382" y="632009"/>
            <a:ext cx="106195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500"/>
              </a:spcAft>
              <a:buNone/>
            </a:pPr>
            <a:r>
              <a:rPr lang="ru-RU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 darajasini aniqlashning xatolar matritsasi va kategorik one-vs-rest ROC-egri chiziqlari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020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533400" y="760396"/>
            <a:ext cx="11111345" cy="503773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Erta yoshdagi bolalarda bronxobstruktiv sindromning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shakllanishi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o'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omilli xarakterga ega ekanligi aniqlandi. Eng muhim umumiy omillar sifatida onada anemiya (OR=3,41–3,82), homiladorlik davrida obligat allergenlarni isteʼmol qilish (OR=4,68–10,8), bolada anemiya (OR=8,0–22,0), raxit (OR=3,85–4,75) va timomegaliya (OR=3,87–6,50) aniqlandi.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o'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tkir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obstruktiv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bronxitda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o'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shimcha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ahamiyatga surunkali fetoplasentar yetishmovchilik (OR=8,02), tugʼilishda asfiksiya (OR=4,64) va allergik moyillik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o'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ldi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bronxiolitda esa — kech gestoz (OR=11,5),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onada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o'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tkazilgan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o'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tkir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bronxit (OR=16,7) va preeklampsiya (OR=7,54)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ahamiyatli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o'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ldi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/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BOSdagi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klinik-immunologik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o'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zgarishlar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kasallikning nozologik shakli va ogʼirlik darajasiga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bogʼliq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o'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ldi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o'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tkir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obstruktiv bronxitli bolalarda IL-4 ning 26,3±0,64 pg/ml gacha, IL-8 ning 101,5±2,5 pg/ml gacha va TNFα ning 101,8±4,04 pg/ml gacha oshishi, shuningdek IFNγ ning 14,2±0,6 pg/ml gacha pasayishi ustunlik qildi. Bronxiolit uchun IL-1β ning 284,9±4,7 pg/ml gacha eng yaqqol oshishi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xos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o'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ldi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BOS ogʼirlashgan sari IgE miqdori 2,7 marta, IL-4 — 6,3 marta, IL-8 — 5,9 marta, IL-1β — 4,7 marta oshdi, IFNγ darajasi esa 3,4 marta pasaydi (p&lt;0,001). Aniqlangan sitokin disbalansi yalligʼlanish jarayoni faolligini aks ettiradi va ogʼirlik darajasini baholash hamda davolash taktikasini tanlash uchun ishlatilishi mumkin.</a:t>
            </a:r>
          </a:p>
          <a:p>
            <a:pPr lvl="0" algn="just"/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Kompyuter bronxofonografiyasi yosh xususiyatlari tashqi nafas funksiyasini standart tekshirishga imkon bermaydigan bolalarda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bronx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o'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tkazuvchanligi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buzilish darajasini obʼyektiv aks ettirdi. Nafas chiqarish fazasida nafasning past chastotali komponenti 1,2 marta,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o'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rta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chastotali — 1,4 marta, yuqori chastotali — 3,4 marta oshdi (p&lt;0,001). Yuqori chastotali diapazon indeksi BOS I darajasida 1,2 marta, II darajasida 2,1 marta va III darajasida 3,8 marta izchil oshdi. Ogʼir kechishda uning IL-4 (r=0,64), IgE (r=0,65) bilan bogʼliqligi va IFNγ (r=-0,36) bilan teskari bogʼliqligi aniqlandi.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YuCh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indeksi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tashxis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o'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yish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ogʼirlik darajasini aniqlash va dinamik kuzatuvning noinvaziv funksional mezoni sifatida asoslandi.</a:t>
            </a:r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1983342" y="207528"/>
            <a:ext cx="7886700" cy="399577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Xulosalar</a:t>
            </a:r>
          </a:p>
        </p:txBody>
      </p:sp>
    </p:spTree>
    <p:extLst>
      <p:ext uri="{BB962C8B-B14F-4D97-AF65-F5344CB8AC3E}">
        <p14:creationId xmlns:p14="http://schemas.microsoft.com/office/powerpoint/2010/main" val="2431829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561110" y="835705"/>
            <a:ext cx="11256817" cy="467787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Ishlab chiqilgan differensial davolash yondashuvi klinik belgilarni tezroq bartaraf etish,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bronx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o'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tkazuvchanligini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tiklash va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immunologik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o'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rsatkichlarni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normallashtirishni taʼminladi. BOS II darajasi terapiyasiga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doksofillinni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o'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shish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gospitalizatsiya muddatini 7,6±0,1 dan 5,3±0,1 kungacha, III darajada doksofillinni ingalyatsion flutikazon bilan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birga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o'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llash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esa 9,0±0,2 dan 7,2±0,3 kungacha qisqartirdi (p&lt;0,01). Davolashning beshinchi kuniga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kelib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indeksi nafas chiqarish fazasida mos ravishda 2,5 va 2,6 marta pasaydi. Shu bilan birga IL-1β, IL-8, IL-4 va TNFα darajalari kamaydi, IFNγ miqdori esa oshdi. Olingan natijalar BOS darajasini hisobga olgan holda shaxsiylashtirilgan terapiya tanlovining klinik, funksional va immunologik asoslanganligini tasdiqlaydi.</a:t>
            </a:r>
          </a:p>
          <a:p>
            <a:pPr lvl="0"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Klinik-anamnestik, immunologik va funksional maʼlumotlarni tizimli tahlil qilish xavf omillarini baholash, BOS darajasini aniqlash, davolashni tanlash va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bemorni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o'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naltirishni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birlashtiruvchi sunʼiy intellekt algoritmi va dasturiy majmuasini ishlab chiqishga imkon berdi. Dastur samaradorligini baholashda bolalar pulmonologlarining qarorlari bilan mos kelish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tashxis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o'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yicha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91,8%, BOS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darajasi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o'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yicha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87,8%, aniq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buyurma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o'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yicha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91,8% va terapiya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darajasi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o'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yicha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95,9% ni tashkil etdi; 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o'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liq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davolash-tashxis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o'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nalishi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87,8% holatlarda mos keldi. BOS III darajasini aniqlashda spetsifiklik 100,0% ga, AUC esa 0,918 ga yetdi. Ishlab chiqilgan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majmuani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o'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llash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oydan keyin retsidivlar sonining 1,8 marta, 6 oydan keyin 2,4 marta va 12 oydan keyin 7,3 marta kamayishi bilan kuzatildi. 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1983342" y="207528"/>
            <a:ext cx="7886700" cy="399577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Xulosalar</a:t>
            </a:r>
          </a:p>
        </p:txBody>
      </p:sp>
    </p:spTree>
    <p:extLst>
      <p:ext uri="{BB962C8B-B14F-4D97-AF65-F5344CB8AC3E}">
        <p14:creationId xmlns:p14="http://schemas.microsoft.com/office/powerpoint/2010/main" val="2855321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61"/>
          <p:cNvSpPr txBox="1">
            <a:spLocks noChangeArrowheads="1"/>
          </p:cNvSpPr>
          <p:nvPr/>
        </p:nvSpPr>
        <p:spPr bwMode="auto">
          <a:xfrm>
            <a:off x="2423593" y="620688"/>
            <a:ext cx="7416824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u-RU" altLang="ru-RU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Chop etilgan ilmiy ishlar:</a:t>
            </a:r>
          </a:p>
        </p:txBody>
      </p:sp>
      <p:graphicFrame>
        <p:nvGraphicFramePr>
          <p:cNvPr id="31800" name="Group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8515244"/>
              </p:ext>
            </p:extLst>
          </p:nvPr>
        </p:nvGraphicFramePr>
        <p:xfrm>
          <a:off x="1940988" y="2313357"/>
          <a:ext cx="8382033" cy="3390377"/>
        </p:xfrm>
        <a:graphic>
          <a:graphicData uri="http://schemas.openxmlformats.org/drawingml/2006/table">
            <a:tbl>
              <a:tblPr/>
              <a:tblGrid>
                <a:gridCol w="4059428">
                  <a:extLst>
                    <a:ext uri="{9D8B030D-6E8A-4147-A177-3AD203B41FA5}">
                      <a16:colId xmlns:a16="http://schemas.microsoft.com/office/drawing/2014/main" xmlns="" val="3151056294"/>
                    </a:ext>
                  </a:extLst>
                </a:gridCol>
                <a:gridCol w="1127619">
                  <a:extLst>
                    <a:ext uri="{9D8B030D-6E8A-4147-A177-3AD203B41FA5}">
                      <a16:colId xmlns:a16="http://schemas.microsoft.com/office/drawing/2014/main" xmlns="" val="1226295707"/>
                    </a:ext>
                  </a:extLst>
                </a:gridCol>
                <a:gridCol w="1250770">
                  <a:extLst>
                    <a:ext uri="{9D8B030D-6E8A-4147-A177-3AD203B41FA5}">
                      <a16:colId xmlns:a16="http://schemas.microsoft.com/office/drawing/2014/main" xmlns="" val="2743518383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xmlns="" val="2824733351"/>
                    </a:ext>
                  </a:extLst>
                </a:gridCol>
              </a:tblGrid>
              <a:tr h="120793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30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Georgia" panose="02040502050405020303" pitchFamily="18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A8CDD7"/>
                        </a:buClr>
                        <a:buSzPct val="7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0BEAF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Georgia" panose="02040502050405020303" pitchFamily="18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  <a:tabLst/>
                      </a:pPr>
                      <a:r>
                        <a:rPr kumimoji="0" lang="ru-RU" altLang="ru-R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Nomi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30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Georgia" panose="02040502050405020303" pitchFamily="18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A8CDD7"/>
                        </a:buClr>
                        <a:buSzPct val="7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0BEAF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Georgia" panose="02040502050405020303" pitchFamily="18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  <a:tabLst/>
                      </a:pPr>
                      <a:endParaRPr kumimoji="0" lang="ru-RU" altLang="ru-RU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  <a:tabLst/>
                      </a:pPr>
                      <a:r>
                        <a:rPr kumimoji="0" lang="ru-RU" altLang="ru-R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Jami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  <a:tabLst/>
                      </a:pPr>
                      <a:endParaRPr kumimoji="0" lang="ru-RU" altLang="ru-RU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30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Georgia" panose="02040502050405020303" pitchFamily="18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A8CDD7"/>
                        </a:buClr>
                        <a:buSzPct val="7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0BEAF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Georgia" panose="02040502050405020303" pitchFamily="18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  <a:tabLst/>
                      </a:pPr>
                      <a:r>
                        <a:rPr kumimoji="0" lang="ru-RU" altLang="ru-R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Mahalliy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30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Georgia" panose="02040502050405020303" pitchFamily="18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A8CDD7"/>
                        </a:buClr>
                        <a:buSzPct val="7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0BEAF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Georgia" panose="02040502050405020303" pitchFamily="18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  <a:tabLst/>
                      </a:pPr>
                      <a:endParaRPr kumimoji="0" lang="ru-RU" altLang="ru-RU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  <a:tabLst/>
                      </a:pPr>
                      <a:r>
                        <a:rPr kumimoji="0" lang="ru-RU" altLang="ru-R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Xorijiy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  <a:tabLst/>
                      </a:pPr>
                      <a:endParaRPr kumimoji="0" lang="ru-RU" altLang="ru-RU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25537378"/>
                  </a:ext>
                </a:extLst>
              </a:tr>
              <a:tr h="47558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30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Georgia" panose="02040502050405020303" pitchFamily="18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A8CDD7"/>
                        </a:buClr>
                        <a:buSzPct val="7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0BEAF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Georgia" panose="02040502050405020303" pitchFamily="18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  <a:tabLst/>
                      </a:pPr>
                      <a:r>
                        <a:rPr kumimoji="0" lang="ru-RU" altLang="ru-R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Maqolalar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30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Georgia" panose="02040502050405020303" pitchFamily="18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A8CDD7"/>
                        </a:buClr>
                        <a:buSzPct val="7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0BEAF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Georgia" panose="02040502050405020303" pitchFamily="18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  <a:tabLst/>
                      </a:pPr>
                      <a:r>
                        <a:rPr kumimoji="0" lang="en-US" altLang="ru-R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kumimoji="0" lang="ru-RU" altLang="ru-RU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30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Georgia" panose="02040502050405020303" pitchFamily="18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A8CDD7"/>
                        </a:buClr>
                        <a:buSzPct val="7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0BEAF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Georgia" panose="02040502050405020303" pitchFamily="18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  <a:tabLst/>
                      </a:pPr>
                      <a:r>
                        <a:rPr kumimoji="0" lang="en-US" altLang="ru-R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kumimoji="0" lang="ru-RU" altLang="ru-RU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30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Georgia" panose="02040502050405020303" pitchFamily="18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A8CDD7"/>
                        </a:buClr>
                        <a:buSzPct val="7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0BEAF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Georgia" panose="02040502050405020303" pitchFamily="18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  <a:tabLst/>
                      </a:pPr>
                      <a:r>
                        <a:rPr kumimoji="0" lang="en-US" altLang="ru-R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kumimoji="0" lang="ru-RU" altLang="ru-RU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739684949"/>
                  </a:ext>
                </a:extLst>
              </a:tr>
              <a:tr h="5033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30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Georgia" panose="02040502050405020303" pitchFamily="18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A8CDD7"/>
                        </a:buClr>
                        <a:buSzPct val="7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0BEAF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Georgia" panose="02040502050405020303" pitchFamily="18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  <a:tabLst/>
                      </a:pPr>
                      <a:r>
                        <a:rPr kumimoji="0" lang="ru-RU" altLang="ru-R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Tezislar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30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Georgia" panose="02040502050405020303" pitchFamily="18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A8CDD7"/>
                        </a:buClr>
                        <a:buSzPct val="7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0BEAF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Georgia" panose="02040502050405020303" pitchFamily="18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  <a:tabLst/>
                      </a:pPr>
                      <a:r>
                        <a:rPr lang="en-US" altLang="ru-RU" sz="2000" b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ru-RU" altLang="ru-RU" sz="2000" b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30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Georgia" panose="02040502050405020303" pitchFamily="18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A8CDD7"/>
                        </a:buClr>
                        <a:buSzPct val="7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0BEAF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Georgia" panose="02040502050405020303" pitchFamily="18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25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  <a:tabLst/>
                      </a:pPr>
                      <a:r>
                        <a:rPr lang="en-US" altLang="ru-RU" sz="2000" b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ru-RU" altLang="ru-RU" sz="2000" b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30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Georgia" panose="02040502050405020303" pitchFamily="18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A8CDD7"/>
                        </a:buClr>
                        <a:buSzPct val="7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0BEAF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Georgia" panose="02040502050405020303" pitchFamily="18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25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  <a:tabLst/>
                      </a:pPr>
                      <a:r>
                        <a:rPr lang="en-US" altLang="ru-RU" sz="2000" b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ru-RU" altLang="ru-RU" sz="2000" b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61867854"/>
                  </a:ext>
                </a:extLst>
              </a:tr>
              <a:tr h="5033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30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Georgia" panose="02040502050405020303" pitchFamily="18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A8CDD7"/>
                        </a:buClr>
                        <a:buSzPct val="7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0BEAF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Georgia" panose="02040502050405020303" pitchFamily="18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  <a:tabLst/>
                      </a:pPr>
                      <a:r>
                        <a:rPr kumimoji="0" lang="ru-RU" altLang="ru-R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Uslubiy tavsiyalar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30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Georgia" panose="02040502050405020303" pitchFamily="18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A8CDD7"/>
                        </a:buClr>
                        <a:buSzPct val="7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0BEAF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Georgia" panose="02040502050405020303" pitchFamily="18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  <a:tabLst/>
                      </a:pPr>
                      <a:r>
                        <a:rPr kumimoji="0" lang="ru-RU" altLang="ru-R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30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Georgia" panose="02040502050405020303" pitchFamily="18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A8CDD7"/>
                        </a:buClr>
                        <a:buSzPct val="7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0BEAF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Georgia" panose="02040502050405020303" pitchFamily="18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  <a:tabLst/>
                      </a:pPr>
                      <a:r>
                        <a:rPr kumimoji="0" lang="ru-RU" altLang="ru-R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30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Georgia" panose="02040502050405020303" pitchFamily="18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A8CDD7"/>
                        </a:buClr>
                        <a:buSzPct val="7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0BEAF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Georgia" panose="02040502050405020303" pitchFamily="18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  <a:tabLst/>
                      </a:pPr>
                      <a:r>
                        <a:rPr kumimoji="0" lang="en-US" altLang="ru-R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kumimoji="0" lang="ru-RU" altLang="ru-RU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61775279"/>
                  </a:ext>
                </a:extLst>
              </a:tr>
              <a:tr h="7002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30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Georgia" panose="02040502050405020303" pitchFamily="18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A8CDD7"/>
                        </a:buClr>
                        <a:buSzPct val="7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0BEAF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Georgia" panose="02040502050405020303" pitchFamily="18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  <a:tabLst/>
                      </a:pPr>
                      <a:r>
                        <a:rPr kumimoji="0" lang="en-US" altLang="ru-R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Jami</a:t>
                      </a:r>
                      <a:endParaRPr kumimoji="0" lang="ru-RU" altLang="ru-RU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30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Georgia" panose="02040502050405020303" pitchFamily="18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A8CDD7"/>
                        </a:buClr>
                        <a:buSzPct val="7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0BEAF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Georgia" panose="02040502050405020303" pitchFamily="18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  <a:tabLst/>
                      </a:pPr>
                      <a:r>
                        <a:rPr kumimoji="0" lang="en-US" altLang="ru-R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  <a:endParaRPr kumimoji="0" lang="ru-RU" altLang="ru-RU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30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Georgia" panose="02040502050405020303" pitchFamily="18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A8CDD7"/>
                        </a:buClr>
                        <a:buSzPct val="7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0BEAF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Georgia" panose="02040502050405020303" pitchFamily="18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  <a:tabLst/>
                      </a:pPr>
                      <a:endParaRPr kumimoji="0" lang="ru-RU" altLang="ru-RU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30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2"/>
                          </a:solidFill>
                          <a:latin typeface="Georgia" panose="02040502050405020303" pitchFamily="18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A8CDD7"/>
                        </a:buClr>
                        <a:buSzPct val="7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0BEAF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2"/>
                          </a:solidFill>
                          <a:latin typeface="Georgia" panose="02040502050405020303" pitchFamily="18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EC597"/>
                        </a:buClr>
                        <a:defRPr>
                          <a:solidFill>
                            <a:schemeClr val="tx1"/>
                          </a:solidFill>
                          <a:latin typeface="Georgia" panose="02040502050405020303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None/>
                        <a:tabLst/>
                      </a:pPr>
                      <a:endParaRPr kumimoji="0" lang="ru-RU" altLang="ru-RU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2224797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30667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84134" y="1774209"/>
            <a:ext cx="10058400" cy="1450757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EʼTIBORINGIZ UCHUN RAHMAT!</a:t>
            </a:r>
          </a:p>
        </p:txBody>
      </p:sp>
    </p:spTree>
    <p:extLst>
      <p:ext uri="{BB962C8B-B14F-4D97-AF65-F5344CB8AC3E}">
        <p14:creationId xmlns:p14="http://schemas.microsoft.com/office/powerpoint/2010/main" val="1076657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Ретро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BAB94BD4-5D6D-4148-AB57-A4CCF1FD4E0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16281</TotalTime>
  <Words>1929</Words>
  <Application>Microsoft Office PowerPoint</Application>
  <PresentationFormat>Широкоэкранный</PresentationFormat>
  <Paragraphs>172</Paragraphs>
  <Slides>29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8" baseType="lpstr">
      <vt:lpstr>宋体</vt:lpstr>
      <vt:lpstr>Aptos</vt:lpstr>
      <vt:lpstr>Arial</vt:lpstr>
      <vt:lpstr>Calibri</vt:lpstr>
      <vt:lpstr>Calibri Light</vt:lpstr>
      <vt:lpstr>Montserrat Semi-Bold</vt:lpstr>
      <vt:lpstr>Times New Roman</vt:lpstr>
      <vt:lpstr>Wingdings 2</vt:lpstr>
      <vt:lpstr>Ретро</vt:lpstr>
      <vt:lpstr>BOLALAR MILLIY TIBBIYOT MARKAZI</vt:lpstr>
      <vt:lpstr>Dolzarbligi:</vt:lpstr>
      <vt:lpstr>                 Tadqiqot maqsadi: </vt:lpstr>
      <vt:lpstr>                Tadqiqot vazifalari:</vt:lpstr>
      <vt:lpstr>Bronxit va bronxial astma bilan kasallangan bolalarning uchrash chastotasi (2020–2025-yillarda Respublika ixtisoslashtirilgan pediatriya ilmiy-amaliy tibbiyot markazida davolangan bronxo'pka patologiyali bolalarning 4392 ta kasallik tarixini tahlil qilish asosida)</vt:lpstr>
      <vt:lpstr>Презентация PowerPoint</vt:lpstr>
      <vt:lpstr>Презентация PowerPoint</vt:lpstr>
      <vt:lpstr>OOB va BL bilan kasallangan bolalarda BOS rivojlanish   xavfining faktorli tahlili (OR)</vt:lpstr>
      <vt:lpstr>Презентация PowerPoint</vt:lpstr>
      <vt:lpstr>Презентация PowerPoint</vt:lpstr>
      <vt:lpstr>Презентация PowerPoint</vt:lpstr>
      <vt:lpstr>Презентация PowerPoint</vt:lpstr>
      <vt:lpstr>Tekshirilgan guruhlardagi bolalarda kompyuter bronxofonografiyasi natijalari, (mPa)</vt:lpstr>
      <vt:lpstr>Презентация PowerPoint</vt:lpstr>
      <vt:lpstr>Презентация PowerPoint</vt:lpstr>
      <vt:lpstr>Презентация PowerPoint</vt:lpstr>
      <vt:lpstr>Davolashdan keyin bolalarda asosiy klinik simptomlarning dinamikasi, (kunlar)</vt:lpstr>
      <vt:lpstr>Презентация PowerPoint</vt:lpstr>
      <vt:lpstr>Davolashdan keyin BOSli bolalarda KBFG akustik komponenti dinamikasi (mPa) (M±m)</vt:lpstr>
      <vt:lpstr>Davolashdan keyin BOSli bolalarda KBFG akustik komponenti dinamikasi (mPa) (M±m)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EʼTIBORINGIZ UCHUN RAHMAT!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АНДИЖАНСКИЙ ГОСУДАРСТВЕННЫЙ МЕДИЦИНСКИЙ ИНСТИТУТ</dc:title>
  <dc:creator>Пользователь</dc:creator>
  <cp:lastModifiedBy>USER</cp:lastModifiedBy>
  <cp:revision>131</cp:revision>
  <dcterms:created xsi:type="dcterms:W3CDTF">2024-08-05T03:49:15Z</dcterms:created>
  <dcterms:modified xsi:type="dcterms:W3CDTF">2026-10-06T04:15:34Z</dcterms:modified>
</cp:coreProperties>
</file>